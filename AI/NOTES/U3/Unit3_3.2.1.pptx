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</p:sldMasterIdLst>
  <p:notesMasterIdLst>
    <p:notesMasterId r:id="rId31"/>
  </p:notesMasterIdLst>
  <p:sldIdLst>
    <p:sldId id="328" r:id="rId2"/>
    <p:sldId id="314" r:id="rId3"/>
    <p:sldId id="257" r:id="rId4"/>
    <p:sldId id="313" r:id="rId5"/>
    <p:sldId id="312" r:id="rId6"/>
    <p:sldId id="258" r:id="rId7"/>
    <p:sldId id="259" r:id="rId8"/>
    <p:sldId id="260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81" r:id="rId21"/>
    <p:sldId id="279" r:id="rId22"/>
    <p:sldId id="282" r:id="rId23"/>
    <p:sldId id="283" r:id="rId24"/>
    <p:sldId id="284" r:id="rId25"/>
    <p:sldId id="316" r:id="rId26"/>
    <p:sldId id="318" r:id="rId27"/>
    <p:sldId id="319" r:id="rId28"/>
    <p:sldId id="321" r:id="rId29"/>
    <p:sldId id="32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>
      <p:cViewPr varScale="1">
        <p:scale>
          <a:sx n="72" d="100"/>
          <a:sy n="72" d="100"/>
        </p:scale>
        <p:origin x="1326" y="5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99945AA-4EB5-FF45-B438-C186DCDD9F82}" type="datetime1">
              <a:rPr lang="en-US"/>
              <a:pPr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1E87EEF-40E4-CC48-970D-FDFF18882F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871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9FD1F6F-B194-CD47-A004-62EC29BF4A5C}" type="slidenum">
              <a:rPr lang="en-US"/>
              <a:pPr/>
              <a:t>3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94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r>
              <a:rPr lang="en-US"/>
              <a:t>Discuss discrete variables a little bit.</a:t>
            </a:r>
          </a:p>
        </p:txBody>
      </p:sp>
    </p:spTree>
    <p:extLst>
      <p:ext uri="{BB962C8B-B14F-4D97-AF65-F5344CB8AC3E}">
        <p14:creationId xmlns:p14="http://schemas.microsoft.com/office/powerpoint/2010/main" val="1955638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F821EB-94A0-EC45-AF8A-C4B1156E08F2}" type="slidenum">
              <a:rPr lang="en-US"/>
              <a:pPr/>
              <a:t>6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1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0AAD08-25F3-BB4A-8241-F81239244E98}" type="slidenum">
              <a:rPr lang="en-US"/>
              <a:pPr/>
              <a:t>7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98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C2F7A78-2161-C245-BA4A-61E2CD4739B7}" type="slidenum">
              <a:rPr lang="en-US"/>
              <a:pPr/>
              <a:t>8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marL="228600" indent="-228600" eaLnBrk="1" hangingPunct="1">
              <a:spcBef>
                <a:spcPct val="0"/>
              </a:spcBef>
            </a:pPr>
            <a:r>
              <a:rPr lang="en-GB" dirty="0"/>
              <a:t>If Nature is not a player, then poker etc. involve chance moves like drawing cards, tiles. The other card games involve no more chance. Play with class.</a:t>
            </a:r>
          </a:p>
        </p:txBody>
      </p:sp>
    </p:spTree>
    <p:extLst>
      <p:ext uri="{BB962C8B-B14F-4D97-AF65-F5344CB8AC3E}">
        <p14:creationId xmlns:p14="http://schemas.microsoft.com/office/powerpoint/2010/main" val="3203796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EDAED7B-B3FD-9C48-827F-A9F6F4EC8F87}" type="slidenum">
              <a:rPr lang="en-US"/>
              <a:pPr/>
              <a:t>9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Explain these conventions carefully. Maybe contrast</a:t>
            </a:r>
            <a:r>
              <a:rPr lang="en-US" baseline="0" dirty="0"/>
              <a:t> with general </a:t>
            </a:r>
            <a:r>
              <a:rPr lang="en-US" baseline="0"/>
              <a:t>game trees.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0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DE86D71-70D5-3549-A6F8-071620AA22EE}" type="slidenum">
              <a:rPr lang="en-US"/>
              <a:pPr/>
              <a:t>10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6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2AEB92-87E5-0540-AA5B-D6EAB87F2BFC}" type="slidenum">
              <a:rPr lang="en-US"/>
              <a:pPr/>
              <a:t>11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264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AF24001-BFA5-5A4F-9667-40FF92524161}" type="slidenum">
              <a:rPr lang="en-US"/>
              <a:pPr/>
              <a:t>12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/>
              <a:t>Add tic-tac-toe demo.</a:t>
            </a:r>
          </a:p>
        </p:txBody>
      </p:sp>
    </p:spTree>
    <p:extLst>
      <p:ext uri="{BB962C8B-B14F-4D97-AF65-F5344CB8AC3E}">
        <p14:creationId xmlns:p14="http://schemas.microsoft.com/office/powerpoint/2010/main" val="1211936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02809F4-71B2-DB4D-972F-7CCF42B552D6}" type="slidenum">
              <a:rPr lang="en-US"/>
              <a:pPr/>
              <a:t>13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7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D3957DC-7083-AE47-8109-C4F8F1CF178F}" type="slidenum">
              <a:rPr lang="en-US"/>
              <a:pPr/>
              <a:t>14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/>
              <a:t>Chocolate playing: max gets x number</a:t>
            </a:r>
            <a:r>
              <a:rPr lang="en-GB" baseline="0"/>
              <a:t> of chocolates, min has to give up x number of chocolates.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279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CFC7559-D38F-7E48-8C49-C90B77054C4E}" type="slidenum">
              <a:rPr lang="en-US"/>
              <a:pPr/>
              <a:t>15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390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8EEAEFE-6B90-1B48-9EF3-537696E4BD3C}" type="slidenum">
              <a:rPr lang="en-US"/>
              <a:pPr/>
              <a:t>16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dirty="0"/>
              <a:t>Ply = 2 half moves</a:t>
            </a:r>
          </a:p>
        </p:txBody>
      </p:sp>
    </p:spTree>
    <p:extLst>
      <p:ext uri="{BB962C8B-B14F-4D97-AF65-F5344CB8AC3E}">
        <p14:creationId xmlns:p14="http://schemas.microsoft.com/office/powerpoint/2010/main" val="119062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F3A3B61-C91E-DE4E-8970-83C333F52931}" type="slidenum">
              <a:rPr lang="en-US"/>
              <a:pPr/>
              <a:t>17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512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562D7B-57BF-4B4A-B215-37108B1C1BF0}" type="slidenum">
              <a:rPr lang="en-US"/>
              <a:pPr/>
              <a:t>18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5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AF020EF-27D3-6E40-84D5-FBAE0D6BE1BF}" type="slidenum">
              <a:rPr lang="en-US"/>
              <a:pPr/>
              <a:t>19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61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Can have negative values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E87EEF-40E4-CC48-970D-FDFF18882FC8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80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E4D6E5C-3128-D44C-971F-F23A57312684}" type="slidenum">
              <a:rPr lang="en-US"/>
              <a:pPr/>
              <a:t>21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59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F85B44A-4D45-7E4B-8FDF-FC30314A319D}" type="slidenum">
              <a:rPr lang="en-US"/>
              <a:pPr/>
              <a:t>22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21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E190EBF-D294-BA47-A262-9ABB08B73DB9}" type="slidenum">
              <a:rPr lang="en-US"/>
              <a:pPr/>
              <a:t>24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2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36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136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74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269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1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172" y="273423"/>
            <a:ext cx="8228763" cy="53073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50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083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946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528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82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12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38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127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172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38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127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64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68FA1A-CA92-5526-C289-FBD04DEC3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629C2A6-172C-78DA-0CF2-B5B6903B7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8C3F68A-66B5-5E80-63EB-CAE0B6E4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F8C93-F506-3F41-9CF2-25FF021EB185}" type="datetime1">
              <a:rPr lang="en-IN" smtClean="0"/>
              <a:t>23-11-2025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C34FE3-1FBF-6158-6D97-25252186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62D260-054E-55D8-9521-A2E7AAF5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F22-E9B2-EA44-BA9B-AE1C427D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71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1F17E8-9059-4403-FB6D-9B31E85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11CDA0-383D-79C7-65E6-44EA531C5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FFACE1-34CE-1D89-30DA-0A7D2F17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D2E8-BC67-4547-9856-7D9D7BE0482E}" type="datetime1">
              <a:rPr lang="en-IN" smtClean="0"/>
              <a:t>23-11-2025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98BA4F-17B9-909B-5DBB-B047756B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1E7A1B-4050-EF22-F5E1-FA77841B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F22-E9B2-EA44-BA9B-AE1C427D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1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marR="0" lvl="0" indent="-38099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378" marR="0" lvl="1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566" marR="0" lvl="2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754" marR="0" lvl="3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943" marR="0" lvl="4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132" marR="0" lvl="5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320" marR="0" lvl="6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509" marR="0" lvl="7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697" marR="0" lvl="8" indent="-355591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xmlns="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7" y="29380"/>
            <a:ext cx="652311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3991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5" y="1603964"/>
            <a:ext cx="8228437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3" b="0" strike="noStrike" spc="-1">
                <a:latin typeface="Arial"/>
              </a:rPr>
              <a:t>Click to edit the outline text format</a:t>
            </a:r>
          </a:p>
          <a:p>
            <a:pPr marL="783692" lvl="1" indent="-293885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40" b="0" strike="noStrike" spc="-1">
                <a:latin typeface="Arial"/>
              </a:rPr>
              <a:t>Second Outline Level</a:t>
            </a:r>
          </a:p>
          <a:p>
            <a:pPr marL="1175537" lvl="2" indent="-261230">
              <a:spcBef>
                <a:spcPts val="77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77" b="0" strike="noStrike" spc="-1">
                <a:latin typeface="Arial"/>
              </a:rPr>
              <a:t>Third Outline Level</a:t>
            </a:r>
          </a:p>
          <a:p>
            <a:pPr marL="1567382" lvl="3" indent="-195923">
              <a:spcBef>
                <a:spcPts val="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14" b="0" strike="noStrike" spc="-1">
                <a:latin typeface="Arial"/>
              </a:rPr>
              <a:t>Fourth Outline Level</a:t>
            </a:r>
          </a:p>
          <a:p>
            <a:pPr marL="1959228" lvl="4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Fifth Outline Level</a:t>
            </a:r>
          </a:p>
          <a:p>
            <a:pPr marL="2351074" lvl="5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Sixth Outline Level</a:t>
            </a:r>
          </a:p>
          <a:p>
            <a:pPr marL="2742920" lvl="6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41702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</p:sldLayoutIdLst>
  <p:hf sldNum="0" hdr="0" ftr="0" dt="0"/>
  <p:txStyles>
    <p:titleStyle>
      <a:lvl1pPr algn="l" defTabSz="829406" rtl="0" eaLnBrk="1" latinLnBrk="0" hangingPunct="1">
        <a:lnSpc>
          <a:spcPct val="90000"/>
        </a:lnSpc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243000" algn="l" defTabSz="829406" rtl="0" eaLnBrk="1" latinLnBrk="0" hangingPunct="1">
        <a:lnSpc>
          <a:spcPct val="90000"/>
        </a:lnSpc>
        <a:spcBef>
          <a:spcPts val="1061"/>
        </a:spcBef>
        <a:buClr>
          <a:srgbClr val="000000"/>
        </a:buClr>
        <a:buSzPct val="45000"/>
        <a:buFont typeface="Wingdings" charset="2"/>
        <a:buChar char="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05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75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462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16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086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5571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27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497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04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0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1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81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51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22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92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62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kgm.com/motif/go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://www.ai.sri.com/~oreilly/aima3ejava/aima3ejavademos.html" TargetMode="External"/><Relationship Id="rId4" Type="http://schemas.openxmlformats.org/officeDocument/2006/relationships/hyperlink" Target="http://www.lokasoft.nl/chessgame.aspx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cf.berkeley.edu/~yosenl/extras/alphabeta/alphabeta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" y="2074768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573881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514481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237639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47865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1808835"/>
            <a:ext cx="8213400" cy="402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MCA</a:t>
            </a: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Master of Computer Applications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1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(25CAT-613)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                    Chapter No.                     Lecture No.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________3___________________1_________________41-43________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NISHA SHARMA and E2915                                                     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Designation:AP</a:t>
            </a:r>
            <a:endParaRPr lang="en-US" sz="32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5E2170-6E52-163D-4579-180ED8258362}"/>
              </a:ext>
            </a:extLst>
          </p:cNvPr>
          <p:cNvSpPr txBox="1"/>
          <p:nvPr/>
        </p:nvSpPr>
        <p:spPr>
          <a:xfrm>
            <a:off x="2954550" y="857250"/>
            <a:ext cx="41836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xmlns="" id="{D89AB046-BF5D-9FB0-A377-F7F7D02D466C}"/>
              </a:ext>
            </a:extLst>
          </p:cNvPr>
          <p:cNvSpPr/>
          <p:nvPr/>
        </p:nvSpPr>
        <p:spPr>
          <a:xfrm>
            <a:off x="748146" y="1049678"/>
            <a:ext cx="8277101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xmlns="" id="{C2F18147-F4D1-809E-DBDD-99CA1B0616F6}"/>
              </a:ext>
            </a:extLst>
          </p:cNvPr>
          <p:cNvSpPr txBox="1"/>
          <p:nvPr/>
        </p:nvSpPr>
        <p:spPr>
          <a:xfrm>
            <a:off x="83128" y="1958638"/>
            <a:ext cx="8942119" cy="366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639" algn="ctr">
              <a:lnSpc>
                <a:spcPts val="137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639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LO1: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</a:t>
            </a:r>
            <a:r>
              <a:rPr lang="en-US" sz="2400" b="1" spc="1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spc="1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foundational</a:t>
            </a:r>
            <a:r>
              <a:rPr lang="en-US" sz="2400" b="1" spc="1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</a:t>
            </a:r>
            <a:r>
              <a:rPr lang="en-US" sz="2400" b="1" spc="1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(AI)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LO2: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and</a:t>
            </a:r>
            <a:r>
              <a:rPr lang="en-US"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formulate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single-agent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problems in state space representation.</a:t>
            </a:r>
            <a:endParaRPr lang="en-US" sz="2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LO3: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various search algorithms to solve problems using Python.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LO4: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efficiency and effectiveness of different search algorithms based on problem characteristics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LO5: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2400"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that can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games by</a:t>
            </a:r>
            <a:r>
              <a:rPr lang="en-US" sz="2400" b="1" spc="3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utilizing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sz="2400" b="1" spc="3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400" b="1" spc="29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pSp>
        <p:nvGrpSpPr>
          <p:cNvPr id="2" name="Google Shape;108;p2">
            <a:extLst>
              <a:ext uri="{FF2B5EF4-FFF2-40B4-BE49-F238E27FC236}">
                <a16:creationId xmlns:a16="http://schemas.microsoft.com/office/drawing/2014/main" xmlns="" id="{CB1F709E-6E3A-773D-623E-2A747E5DBB44}"/>
              </a:ext>
            </a:extLst>
          </p:cNvPr>
          <p:cNvGrpSpPr/>
          <p:nvPr/>
        </p:nvGrpSpPr>
        <p:grpSpPr>
          <a:xfrm>
            <a:off x="639161" y="1448583"/>
            <a:ext cx="6776613" cy="333450"/>
            <a:chOff x="0" y="6299"/>
            <a:chExt cx="6074853" cy="444600"/>
          </a:xfrm>
          <a:noFill/>
        </p:grpSpPr>
        <p:sp>
          <p:nvSpPr>
            <p:cNvPr id="3" name="Google Shape;109;p2">
              <a:extLst>
                <a:ext uri="{FF2B5EF4-FFF2-40B4-BE49-F238E27FC236}">
                  <a16:creationId xmlns:a16="http://schemas.microsoft.com/office/drawing/2014/main" xmlns="" id="{84514D92-4BCF-4C6B-939B-9FA0BC5B292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4" name="Google Shape;110;p2">
              <a:extLst>
                <a:ext uri="{FF2B5EF4-FFF2-40B4-BE49-F238E27FC236}">
                  <a16:creationId xmlns:a16="http://schemas.microsoft.com/office/drawing/2014/main" xmlns="" id="{1BFC8397-E063-69C5-467E-69EF194EB152}"/>
                </a:ext>
              </a:extLst>
            </p:cNvPr>
            <p:cNvSpPr txBox="1"/>
            <p:nvPr/>
          </p:nvSpPr>
          <p:spPr>
            <a:xfrm>
              <a:off x="537327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</a:t>
              </a:r>
              <a:r>
                <a:rPr lang="en-US" sz="3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Objectives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Search and Game-Playing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05000" y="518561"/>
            <a:ext cx="5334000" cy="808018"/>
          </a:xfrm>
        </p:spPr>
        <p:txBody>
          <a:bodyPr/>
          <a:lstStyle/>
          <a:p>
            <a:r>
              <a:rPr lang="en-US" sz="4000" dirty="0"/>
              <a:t>Environment Type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962400" y="1828800"/>
            <a:ext cx="4876800" cy="1371600"/>
          </a:xfrm>
        </p:spPr>
        <p:txBody>
          <a:bodyPr/>
          <a:lstStyle/>
          <a:p>
            <a:r>
              <a:rPr lang="en-US" sz="2000" dirty="0"/>
              <a:t>Turn-taking: Semi-dynamic</a:t>
            </a:r>
          </a:p>
          <a:p>
            <a:r>
              <a:rPr lang="en-US" sz="2000" dirty="0"/>
              <a:t>Deterministic and non-deterministic</a:t>
            </a:r>
          </a:p>
        </p:txBody>
      </p:sp>
      <p:sp>
        <p:nvSpPr>
          <p:cNvPr id="17415" name="TextBox 5"/>
          <p:cNvSpPr txBox="1">
            <a:spLocks noChangeArrowheads="1"/>
          </p:cNvSpPr>
          <p:nvPr/>
        </p:nvSpPr>
        <p:spPr bwMode="auto">
          <a:xfrm>
            <a:off x="2057400" y="1524000"/>
            <a:ext cx="14478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Fully Observable</a:t>
            </a:r>
          </a:p>
        </p:txBody>
      </p:sp>
      <p:sp>
        <p:nvSpPr>
          <p:cNvPr id="17416" name="TextBox 7"/>
          <p:cNvSpPr txBox="1">
            <a:spLocks noChangeArrowheads="1"/>
          </p:cNvSpPr>
          <p:nvPr/>
        </p:nvSpPr>
        <p:spPr bwMode="auto">
          <a:xfrm>
            <a:off x="1981200" y="2819400"/>
            <a:ext cx="1600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Multi-agent</a:t>
            </a:r>
          </a:p>
        </p:txBody>
      </p:sp>
      <p:sp>
        <p:nvSpPr>
          <p:cNvPr id="17417" name="TextBox 8"/>
          <p:cNvSpPr txBox="1">
            <a:spLocks noChangeArrowheads="1"/>
          </p:cNvSpPr>
          <p:nvPr/>
        </p:nvSpPr>
        <p:spPr bwMode="auto">
          <a:xfrm>
            <a:off x="1981200" y="3810000"/>
            <a:ext cx="16002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Sequential</a:t>
            </a:r>
          </a:p>
        </p:txBody>
      </p:sp>
      <p:cxnSp>
        <p:nvCxnSpPr>
          <p:cNvPr id="11" name="Straight Arrow Connector 10"/>
          <p:cNvCxnSpPr>
            <a:cxnSpLocks noChangeShapeType="1"/>
            <a:stCxn id="17415" idx="2"/>
            <a:endCxn id="17416" idx="0"/>
          </p:cNvCxnSpPr>
          <p:nvPr/>
        </p:nvCxnSpPr>
        <p:spPr bwMode="auto">
          <a:xfrm>
            <a:off x="2781300" y="2174875"/>
            <a:ext cx="0" cy="644525"/>
          </a:xfrm>
          <a:prstGeom prst="straightConnector1">
            <a:avLst/>
          </a:prstGeom>
          <a:noFill/>
          <a:ln w="11429">
            <a:solidFill>
              <a:schemeClr val="accent1"/>
            </a:solidFill>
            <a:prstDash val="sysDash"/>
            <a:round/>
            <a:headEnd/>
            <a:tailEnd type="arrow" w="med" len="med"/>
          </a:ln>
          <a:effectLst>
            <a:outerShdw blurRad="50800" dist="254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12" name="Straight Arrow Connector 11"/>
          <p:cNvCxnSpPr>
            <a:cxnSpLocks noChangeShapeType="1"/>
            <a:stCxn id="17416" idx="2"/>
            <a:endCxn id="17417" idx="0"/>
          </p:cNvCxnSpPr>
          <p:nvPr/>
        </p:nvCxnSpPr>
        <p:spPr bwMode="auto">
          <a:xfrm>
            <a:off x="2781300" y="3195638"/>
            <a:ext cx="0" cy="614362"/>
          </a:xfrm>
          <a:prstGeom prst="straightConnector1">
            <a:avLst/>
          </a:prstGeom>
          <a:noFill/>
          <a:ln w="11429">
            <a:solidFill>
              <a:schemeClr val="accent1"/>
            </a:solidFill>
            <a:prstDash val="sysDash"/>
            <a:round/>
            <a:headEnd/>
            <a:tailEnd type="arrow" w="med" len="med"/>
          </a:ln>
          <a:effectLst>
            <a:outerShdw blurRad="50800" dist="254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17420" name="TextBox 19"/>
          <p:cNvSpPr txBox="1">
            <a:spLocks noChangeArrowheads="1"/>
          </p:cNvSpPr>
          <p:nvPr/>
        </p:nvSpPr>
        <p:spPr bwMode="auto">
          <a:xfrm>
            <a:off x="2286000" y="229711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17421" name="TextBox 20"/>
          <p:cNvSpPr txBox="1">
            <a:spLocks noChangeArrowheads="1"/>
          </p:cNvSpPr>
          <p:nvPr/>
        </p:nvSpPr>
        <p:spPr bwMode="auto">
          <a:xfrm>
            <a:off x="2133600" y="328771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17422" name="TextBox 8"/>
          <p:cNvSpPr txBox="1">
            <a:spLocks noChangeArrowheads="1"/>
          </p:cNvSpPr>
          <p:nvPr/>
        </p:nvSpPr>
        <p:spPr bwMode="auto">
          <a:xfrm>
            <a:off x="838200" y="4583113"/>
            <a:ext cx="11430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Discrete </a:t>
            </a:r>
          </a:p>
        </p:txBody>
      </p:sp>
      <p:sp>
        <p:nvSpPr>
          <p:cNvPr id="17423" name="TextBox 8"/>
          <p:cNvSpPr txBox="1">
            <a:spLocks noChangeArrowheads="1"/>
          </p:cNvSpPr>
          <p:nvPr/>
        </p:nvSpPr>
        <p:spPr bwMode="auto">
          <a:xfrm>
            <a:off x="4038600" y="4419600"/>
            <a:ext cx="1143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Discrete </a:t>
            </a:r>
          </a:p>
        </p:txBody>
      </p:sp>
      <p:cxnSp>
        <p:nvCxnSpPr>
          <p:cNvPr id="22" name="Straight Arrow Connector 21"/>
          <p:cNvCxnSpPr>
            <a:cxnSpLocks noChangeShapeType="1"/>
            <a:stCxn id="17417" idx="2"/>
            <a:endCxn id="17422" idx="0"/>
          </p:cNvCxnSpPr>
          <p:nvPr/>
        </p:nvCxnSpPr>
        <p:spPr bwMode="auto">
          <a:xfrm flipH="1">
            <a:off x="1409700" y="4186238"/>
            <a:ext cx="1371600" cy="396875"/>
          </a:xfrm>
          <a:prstGeom prst="straightConnector1">
            <a:avLst/>
          </a:prstGeom>
          <a:noFill/>
          <a:ln w="11429">
            <a:solidFill>
              <a:schemeClr val="accent1"/>
            </a:solidFill>
            <a:prstDash val="sysDash"/>
            <a:round/>
            <a:headEnd/>
            <a:tailEnd type="arrow" w="med" len="med"/>
          </a:ln>
          <a:effectLst>
            <a:outerShdw blurRad="50800" dist="25400" dir="5400000" rotWithShape="0">
              <a:srgbClr val="000000">
                <a:alpha val="34998"/>
              </a:srgbClr>
            </a:outerShdw>
          </a:effectLst>
        </p:spPr>
      </p:cxnSp>
      <p:cxnSp>
        <p:nvCxnSpPr>
          <p:cNvPr id="24" name="Straight Arrow Connector 23"/>
          <p:cNvCxnSpPr>
            <a:cxnSpLocks noChangeShapeType="1"/>
            <a:stCxn id="17417" idx="2"/>
            <a:endCxn id="17423" idx="0"/>
          </p:cNvCxnSpPr>
          <p:nvPr/>
        </p:nvCxnSpPr>
        <p:spPr bwMode="auto">
          <a:xfrm>
            <a:off x="2781300" y="4186238"/>
            <a:ext cx="1828800" cy="233362"/>
          </a:xfrm>
          <a:prstGeom prst="straightConnector1">
            <a:avLst/>
          </a:prstGeom>
          <a:noFill/>
          <a:ln w="11429">
            <a:solidFill>
              <a:schemeClr val="accent1"/>
            </a:solidFill>
            <a:prstDash val="sysDash"/>
            <a:round/>
            <a:headEnd/>
            <a:tailEnd type="arrow" w="med" len="med"/>
          </a:ln>
          <a:effectLst>
            <a:outerShdw blurRad="50800" dist="25400" dir="5400000" rotWithShape="0">
              <a:srgbClr val="000000">
                <a:alpha val="34998"/>
              </a:srgbClr>
            </a:outerShdw>
          </a:effectLst>
        </p:spPr>
      </p:cxnSp>
      <p:sp>
        <p:nvSpPr>
          <p:cNvPr id="17426" name="TextBox 20"/>
          <p:cNvSpPr txBox="1">
            <a:spLocks noChangeArrowheads="1"/>
          </p:cNvSpPr>
          <p:nvPr/>
        </p:nvSpPr>
        <p:spPr bwMode="auto">
          <a:xfrm>
            <a:off x="1371600" y="404971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17427" name="TextBox 8"/>
          <p:cNvSpPr txBox="1">
            <a:spLocks noChangeArrowheads="1"/>
          </p:cNvSpPr>
          <p:nvPr/>
        </p:nvSpPr>
        <p:spPr bwMode="auto">
          <a:xfrm>
            <a:off x="419100" y="5472577"/>
            <a:ext cx="1295400" cy="923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b="1"/>
              <a:t>Game Tree Search</a:t>
            </a:r>
          </a:p>
        </p:txBody>
      </p:sp>
      <p:cxnSp>
        <p:nvCxnSpPr>
          <p:cNvPr id="30" name="Straight Arrow Connector 29"/>
          <p:cNvCxnSpPr>
            <a:cxnSpLocks noChangeShapeType="1"/>
            <a:stCxn id="17422" idx="2"/>
          </p:cNvCxnSpPr>
          <p:nvPr/>
        </p:nvCxnSpPr>
        <p:spPr bwMode="auto">
          <a:xfrm rot="5400000">
            <a:off x="744537" y="4748213"/>
            <a:ext cx="454025" cy="876300"/>
          </a:xfrm>
          <a:prstGeom prst="straightConnector1">
            <a:avLst/>
          </a:prstGeom>
          <a:noFill/>
          <a:ln w="11429">
            <a:solidFill>
              <a:schemeClr val="accent1"/>
            </a:solidFill>
            <a:prstDash val="sysDash"/>
            <a:round/>
            <a:headEnd/>
            <a:tailEnd type="arrow" w="med" len="med"/>
          </a:ln>
          <a:effectLst>
            <a:outerShdw blurRad="50800" dist="25400" dir="5400000" rotWithShape="0">
              <a:srgbClr val="000000">
                <a:alpha val="34998"/>
              </a:srgbClr>
            </a:outerShdw>
          </a:effectLst>
        </p:spPr>
      </p:cxnSp>
      <p:sp>
        <p:nvSpPr>
          <p:cNvPr id="17429" name="TextBox 20"/>
          <p:cNvSpPr txBox="1">
            <a:spLocks noChangeArrowheads="1"/>
          </p:cNvSpPr>
          <p:nvPr/>
        </p:nvSpPr>
        <p:spPr bwMode="auto">
          <a:xfrm>
            <a:off x="228600" y="465931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17430" name="TextBox 20"/>
          <p:cNvSpPr txBox="1">
            <a:spLocks noChangeArrowheads="1"/>
          </p:cNvSpPr>
          <p:nvPr/>
        </p:nvSpPr>
        <p:spPr bwMode="auto">
          <a:xfrm>
            <a:off x="4038600" y="39624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no</a:t>
            </a:r>
          </a:p>
        </p:txBody>
      </p:sp>
      <p:sp>
        <p:nvSpPr>
          <p:cNvPr id="17431" name="TextBox 8"/>
          <p:cNvSpPr txBox="1">
            <a:spLocks noChangeArrowheads="1"/>
          </p:cNvSpPr>
          <p:nvPr/>
        </p:nvSpPr>
        <p:spPr bwMode="auto">
          <a:xfrm>
            <a:off x="5791200" y="5502274"/>
            <a:ext cx="28956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/>
              <a:t>Continuous Action Games</a:t>
            </a:r>
          </a:p>
        </p:txBody>
      </p:sp>
      <p:sp>
        <p:nvSpPr>
          <p:cNvPr id="17432" name="TextBox 8"/>
          <p:cNvSpPr txBox="1">
            <a:spLocks noChangeArrowheads="1"/>
          </p:cNvSpPr>
          <p:nvPr/>
        </p:nvSpPr>
        <p:spPr bwMode="auto">
          <a:xfrm>
            <a:off x="3810000" y="5410200"/>
            <a:ext cx="19050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Game Matrices</a:t>
            </a:r>
          </a:p>
        </p:txBody>
      </p:sp>
      <p:cxnSp>
        <p:nvCxnSpPr>
          <p:cNvPr id="40" name="Straight Arrow Connector 39"/>
          <p:cNvCxnSpPr>
            <a:stCxn id="17423" idx="2"/>
          </p:cNvCxnSpPr>
          <p:nvPr/>
        </p:nvCxnSpPr>
        <p:spPr>
          <a:xfrm rot="5400000">
            <a:off x="4280694" y="5087144"/>
            <a:ext cx="620712" cy="38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423" idx="3"/>
            <a:endCxn id="17431" idx="0"/>
          </p:cNvCxnSpPr>
          <p:nvPr/>
        </p:nvCxnSpPr>
        <p:spPr>
          <a:xfrm>
            <a:off x="5181600" y="4607719"/>
            <a:ext cx="2057400" cy="894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20"/>
          <p:cNvSpPr txBox="1">
            <a:spLocks noChangeArrowheads="1"/>
          </p:cNvSpPr>
          <p:nvPr/>
        </p:nvSpPr>
        <p:spPr bwMode="auto">
          <a:xfrm>
            <a:off x="5791200" y="4419600"/>
            <a:ext cx="609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no</a:t>
            </a:r>
          </a:p>
        </p:txBody>
      </p:sp>
      <p:sp>
        <p:nvSpPr>
          <p:cNvPr id="17436" name="TextBox 20"/>
          <p:cNvSpPr txBox="1">
            <a:spLocks noChangeArrowheads="1"/>
          </p:cNvSpPr>
          <p:nvPr/>
        </p:nvSpPr>
        <p:spPr bwMode="auto">
          <a:xfrm>
            <a:off x="3962400" y="5040313"/>
            <a:ext cx="83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752422" y="609600"/>
            <a:ext cx="5639155" cy="884218"/>
          </a:xfrm>
        </p:spPr>
        <p:txBody>
          <a:bodyPr/>
          <a:lstStyle/>
          <a:p>
            <a:r>
              <a:rPr lang="en-US" dirty="0"/>
              <a:t>Adversarial Search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914399" y="1752600"/>
            <a:ext cx="7891463" cy="4346575"/>
          </a:xfrm>
        </p:spPr>
        <p:txBody>
          <a:bodyPr/>
          <a:lstStyle/>
          <a:p>
            <a:r>
              <a:rPr lang="en-US" sz="2800" dirty="0"/>
              <a:t>Examine the problems that arise when we try to plan ahead in a world where other agents are planning against us.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A good example is in board games.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Adversarial games, while much studied in AI, are a small part of game theory in economics.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5791200" cy="454025"/>
          </a:xfrm>
        </p:spPr>
        <p:txBody>
          <a:bodyPr/>
          <a:lstStyle/>
          <a:p>
            <a:pPr eaLnBrk="1" hangingPunct="1"/>
            <a:r>
              <a:rPr lang="en-US" sz="4000" dirty="0"/>
              <a:t>Typical AI assumptions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80010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Two agents whose actions alternate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Utility values for each agent are the opposite of the other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creates the adversarial situation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Fully observable environments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In game theory terms: Zero-sum games of perfect information.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We’ll relax these assumptions later.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5867755" cy="655618"/>
          </a:xfrm>
        </p:spPr>
        <p:txBody>
          <a:bodyPr/>
          <a:lstStyle/>
          <a:p>
            <a:pPr eaLnBrk="1" hangingPunct="1"/>
            <a:r>
              <a:rPr lang="en-US" sz="4000" dirty="0"/>
              <a:t>Search versus Games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603964"/>
            <a:ext cx="7161282" cy="3976819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000" dirty="0"/>
              <a:t>Search – no adversary</a:t>
            </a:r>
          </a:p>
          <a:p>
            <a:pPr lvl="1" eaLnBrk="1" hangingPunct="1"/>
            <a:r>
              <a:rPr lang="en-US" sz="1800" dirty="0"/>
              <a:t>Solution is (heuristic) method for finding goal</a:t>
            </a:r>
          </a:p>
          <a:p>
            <a:pPr lvl="1" eaLnBrk="1" hangingPunct="1"/>
            <a:r>
              <a:rPr lang="en-US" sz="1800" dirty="0"/>
              <a:t>Heuristic techniques can find </a:t>
            </a:r>
            <a:r>
              <a:rPr lang="en-US" sz="1800" i="1" dirty="0"/>
              <a:t>optimal</a:t>
            </a:r>
            <a:r>
              <a:rPr lang="en-US" sz="1800" dirty="0"/>
              <a:t> solution</a:t>
            </a:r>
          </a:p>
          <a:p>
            <a:pPr lvl="1" eaLnBrk="1" hangingPunct="1"/>
            <a:r>
              <a:rPr lang="en-US" sz="1800" dirty="0"/>
              <a:t>Evaluation function: estimate of cost from start to goal through given node</a:t>
            </a:r>
          </a:p>
          <a:p>
            <a:pPr lvl="1" eaLnBrk="1" hangingPunct="1"/>
            <a:r>
              <a:rPr lang="en-US" sz="1800" dirty="0"/>
              <a:t>Examples: path planning, scheduling activities</a:t>
            </a:r>
          </a:p>
          <a:p>
            <a:pPr lvl="1" eaLnBrk="1" hangingPunct="1"/>
            <a:endParaRPr lang="en-US" sz="1800" dirty="0"/>
          </a:p>
          <a:p>
            <a:pPr eaLnBrk="1" hangingPunct="1"/>
            <a:r>
              <a:rPr lang="en-US" sz="2000" dirty="0"/>
              <a:t>Games – adversary</a:t>
            </a:r>
          </a:p>
          <a:p>
            <a:pPr lvl="1" eaLnBrk="1" hangingPunct="1"/>
            <a:r>
              <a:rPr lang="en-US" sz="1800" dirty="0"/>
              <a:t>Solution is </a:t>
            </a:r>
            <a:r>
              <a:rPr lang="en-US" sz="1800" b="1" dirty="0"/>
              <a:t>strategy</a:t>
            </a:r>
            <a:r>
              <a:rPr lang="en-US" sz="1800" dirty="0"/>
              <a:t> (strategy specifies move for every possible opponent reply).</a:t>
            </a:r>
          </a:p>
          <a:p>
            <a:pPr lvl="1" eaLnBrk="1" hangingPunct="1"/>
            <a:r>
              <a:rPr lang="en-US" sz="1800" b="1" dirty="0"/>
              <a:t>Optimality depends on opponent. </a:t>
            </a:r>
            <a:r>
              <a:rPr lang="en-US" sz="1800" dirty="0"/>
              <a:t>Why?</a:t>
            </a:r>
          </a:p>
          <a:p>
            <a:pPr lvl="1" eaLnBrk="1" hangingPunct="1"/>
            <a:r>
              <a:rPr lang="en-US" sz="1800" dirty="0"/>
              <a:t>Time limits force an </a:t>
            </a:r>
            <a:r>
              <a:rPr lang="en-US" sz="1800" i="1" dirty="0"/>
              <a:t>approximate</a:t>
            </a:r>
            <a:r>
              <a:rPr lang="en-US" sz="1800" dirty="0"/>
              <a:t> solution</a:t>
            </a:r>
          </a:p>
          <a:p>
            <a:pPr lvl="1" eaLnBrk="1" hangingPunct="1"/>
            <a:r>
              <a:rPr lang="en-US" sz="1800" dirty="0"/>
              <a:t>Evaluation function: evaluate “goodness” of  game position</a:t>
            </a:r>
          </a:p>
          <a:p>
            <a:pPr lvl="1" eaLnBrk="1" hangingPunct="1"/>
            <a:r>
              <a:rPr lang="en-US" sz="1800" dirty="0"/>
              <a:t>Examples: chess, checkers, Othello, backgammon</a:t>
            </a:r>
            <a:r>
              <a:rPr lang="en-US" sz="2400" dirty="0"/>
              <a:t> </a:t>
            </a:r>
          </a:p>
          <a:p>
            <a:pPr eaLnBrk="1" hangingPunct="1"/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58800"/>
            <a:ext cx="6172200" cy="427018"/>
          </a:xfrm>
        </p:spPr>
        <p:txBody>
          <a:bodyPr/>
          <a:lstStyle/>
          <a:p>
            <a:pPr eaLnBrk="1" hangingPunct="1"/>
            <a:r>
              <a:rPr lang="en-US" sz="4000" dirty="0"/>
              <a:t>Types of Games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6096000" cy="2200275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Georgi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charset="0"/>
                        </a:rPr>
                        <a:t>deterministic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Georgia" charset="0"/>
                        </a:rPr>
                        <a:t>Chance moves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Perfect information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Chess, checkers, go, othello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Backgammon, monopoly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D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Imperfect information</a:t>
                      </a:r>
                      <a:b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</a:b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(Initial Chance Moves)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Bridge, Skat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Georgia" charset="0"/>
                        </a:rPr>
                        <a:t>Poker, scrabble, blackjack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E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4597" name="TextBox 5"/>
          <p:cNvSpPr txBox="1">
            <a:spLocks noChangeArrowheads="1"/>
          </p:cNvSpPr>
          <p:nvPr/>
        </p:nvSpPr>
        <p:spPr bwMode="auto">
          <a:xfrm>
            <a:off x="457200" y="4267200"/>
            <a:ext cx="6781800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charset="0"/>
              <a:buChar char="•"/>
            </a:pPr>
            <a:r>
              <a:rPr lang="en-US" b="1"/>
              <a:t> Theorem of Nobel Laureate Harsanyi: </a:t>
            </a:r>
            <a:r>
              <a:rPr lang="en-US"/>
              <a:t>Every game with chance moves during the game has an equivalent representation with initial chance moves only.</a:t>
            </a:r>
          </a:p>
          <a:p>
            <a:pPr>
              <a:buFont typeface="Arial" charset="0"/>
              <a:buChar char="•"/>
            </a:pPr>
            <a:r>
              <a:rPr lang="en-US"/>
              <a:t> A deep result, but computationally it is more tractable to consider chance moves as the game goes along. </a:t>
            </a:r>
          </a:p>
          <a:p>
            <a:pPr>
              <a:buFont typeface="Arial" charset="0"/>
              <a:buChar char="•"/>
            </a:pPr>
            <a:r>
              <a:rPr lang="en-US"/>
              <a:t> This is basically the same as the issue of full observability + nondeterminism vs. partial observability + determinism.</a:t>
            </a:r>
          </a:p>
        </p:txBody>
      </p:sp>
      <p:sp>
        <p:nvSpPr>
          <p:cNvPr id="24598" name="TextBox 6"/>
          <p:cNvSpPr txBox="1">
            <a:spLocks noChangeArrowheads="1"/>
          </p:cNvSpPr>
          <p:nvPr/>
        </p:nvSpPr>
        <p:spPr bwMode="auto">
          <a:xfrm>
            <a:off x="7162800" y="1828800"/>
            <a:ext cx="1143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 typeface="Arial" charset="0"/>
              <a:buChar char="•"/>
            </a:pPr>
            <a:r>
              <a:rPr lang="en-US" dirty="0">
                <a:hlinkClick r:id="rId3"/>
              </a:rPr>
              <a:t> on-line backgammon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>
                <a:hlinkClick r:id="rId4"/>
              </a:rPr>
              <a:t> on-line chess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 </a:t>
            </a:r>
            <a:r>
              <a:rPr lang="en-US" dirty="0">
                <a:hlinkClick r:id="rId5"/>
              </a:rPr>
              <a:t>tic-tac-toe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457200"/>
            <a:ext cx="7237482" cy="960418"/>
          </a:xfrm>
        </p:spPr>
        <p:txBody>
          <a:bodyPr/>
          <a:lstStyle/>
          <a:p>
            <a:pPr eaLnBrk="1" hangingPunct="1"/>
            <a:r>
              <a:rPr lang="en-US" sz="4000" dirty="0"/>
              <a:t>Game Setup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Two players: MAX and MIN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MAX moves first and they take turns until the game is over</a:t>
            </a:r>
          </a:p>
          <a:p>
            <a:pPr lvl="1" eaLnBrk="1" hangingPunct="1"/>
            <a:r>
              <a:rPr lang="en-US" sz="1800" dirty="0"/>
              <a:t>Winner gets award, loser gets penalty.</a:t>
            </a:r>
          </a:p>
          <a:p>
            <a:pPr eaLnBrk="1" hangingPunct="1"/>
            <a:endParaRPr lang="en-US" sz="2000" dirty="0"/>
          </a:p>
          <a:p>
            <a:pPr eaLnBrk="1" hangingPunct="1"/>
            <a:r>
              <a:rPr lang="en-US" sz="2000" dirty="0"/>
              <a:t>Games as search:</a:t>
            </a:r>
          </a:p>
          <a:p>
            <a:pPr lvl="1" eaLnBrk="1" hangingPunct="1"/>
            <a:r>
              <a:rPr lang="en-US" sz="1800" dirty="0"/>
              <a:t>Initial state: e.g. board configuration of chess</a:t>
            </a:r>
          </a:p>
          <a:p>
            <a:pPr lvl="1" eaLnBrk="1" hangingPunct="1"/>
            <a:r>
              <a:rPr lang="en-US" sz="1800" dirty="0"/>
              <a:t>Successor function: list of (</a:t>
            </a:r>
            <a:r>
              <a:rPr lang="en-US" sz="1800" dirty="0" err="1"/>
              <a:t>move,state</a:t>
            </a:r>
            <a:r>
              <a:rPr lang="en-US" sz="1800" dirty="0"/>
              <a:t>) pairs specifying legal moves.</a:t>
            </a:r>
          </a:p>
          <a:p>
            <a:pPr lvl="1" eaLnBrk="1" hangingPunct="1"/>
            <a:r>
              <a:rPr lang="en-US" sz="1800" dirty="0"/>
              <a:t>Terminal test: Is the game finished?</a:t>
            </a:r>
          </a:p>
          <a:p>
            <a:pPr lvl="1" eaLnBrk="1" hangingPunct="1"/>
            <a:r>
              <a:rPr lang="en-US" sz="1800" dirty="0"/>
              <a:t>Utility function: Gives numerical value of terminal states. E.g. win (+1), lose (-1) and draw (0) in tic-tac-toe  </a:t>
            </a:r>
            <a:r>
              <a:rPr lang="en-US" sz="1800"/>
              <a:t>or chess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237482" cy="1144631"/>
          </a:xfrm>
        </p:spPr>
        <p:txBody>
          <a:bodyPr/>
          <a:lstStyle/>
          <a:p>
            <a:pPr algn="ctr" eaLnBrk="1" hangingPunct="1"/>
            <a:r>
              <a:rPr lang="en-US" sz="4000" dirty="0"/>
              <a:t>Size of search trees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990599" y="1527174"/>
            <a:ext cx="7815263" cy="472122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300" dirty="0" err="1"/>
              <a:t>b</a:t>
            </a:r>
            <a:r>
              <a:rPr lang="en-US" sz="2300" dirty="0"/>
              <a:t> = branching factor</a:t>
            </a:r>
          </a:p>
          <a:p>
            <a:pPr eaLnBrk="1" hangingPunct="1">
              <a:lnSpc>
                <a:spcPct val="80000"/>
              </a:lnSpc>
            </a:pPr>
            <a:endParaRPr lang="en-US" sz="2300" dirty="0"/>
          </a:p>
          <a:p>
            <a:pPr eaLnBrk="1" hangingPunct="1">
              <a:lnSpc>
                <a:spcPct val="80000"/>
              </a:lnSpc>
            </a:pPr>
            <a:r>
              <a:rPr lang="en-US" sz="2300" dirty="0" err="1"/>
              <a:t>d</a:t>
            </a:r>
            <a:r>
              <a:rPr lang="en-US" sz="2300" dirty="0"/>
              <a:t> = number of moves by both players</a:t>
            </a:r>
          </a:p>
          <a:p>
            <a:pPr eaLnBrk="1" hangingPunct="1">
              <a:lnSpc>
                <a:spcPct val="80000"/>
              </a:lnSpc>
            </a:pPr>
            <a:endParaRPr lang="en-US" sz="2300" dirty="0"/>
          </a:p>
          <a:p>
            <a:pPr eaLnBrk="1" hangingPunct="1">
              <a:lnSpc>
                <a:spcPct val="80000"/>
              </a:lnSpc>
            </a:pPr>
            <a:r>
              <a:rPr lang="en-US" sz="2300" dirty="0"/>
              <a:t>Search tree is </a:t>
            </a:r>
            <a:r>
              <a:rPr lang="en-US" sz="2300" dirty="0" err="1"/>
              <a:t>O(b</a:t>
            </a:r>
            <a:r>
              <a:rPr lang="en-US" sz="2300" baseline="30000" dirty="0" err="1"/>
              <a:t>d</a:t>
            </a:r>
            <a:r>
              <a:rPr lang="en-US" sz="2300" dirty="0"/>
              <a:t>)</a:t>
            </a:r>
          </a:p>
          <a:p>
            <a:pPr eaLnBrk="1" hangingPunct="1">
              <a:lnSpc>
                <a:spcPct val="80000"/>
              </a:lnSpc>
            </a:pPr>
            <a:endParaRPr lang="en-US" sz="2300" dirty="0"/>
          </a:p>
          <a:p>
            <a:pPr eaLnBrk="1" hangingPunct="1">
              <a:lnSpc>
                <a:spcPct val="80000"/>
              </a:lnSpc>
            </a:pPr>
            <a:r>
              <a:rPr lang="en-US" sz="2300" dirty="0"/>
              <a:t>Chess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 err="1"/>
              <a:t>b</a:t>
            </a:r>
            <a:r>
              <a:rPr lang="en-US" sz="1900" dirty="0"/>
              <a:t> ~ 35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900" dirty="0"/>
              <a:t>D ~100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1900" dirty="0"/>
              <a:t>      -   search tree is ~ 10 </a:t>
            </a:r>
            <a:r>
              <a:rPr lang="en-US" sz="1900" baseline="30000" dirty="0"/>
              <a:t>154</a:t>
            </a:r>
            <a:r>
              <a:rPr lang="en-US" sz="1900" dirty="0"/>
              <a:t>   (!!)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sz="1900" dirty="0"/>
              <a:t>      -   completely impractical to search this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sz="1900" dirty="0"/>
          </a:p>
          <a:p>
            <a:pPr eaLnBrk="1" hangingPunct="1">
              <a:lnSpc>
                <a:spcPct val="80000"/>
              </a:lnSpc>
            </a:pPr>
            <a:r>
              <a:rPr lang="en-US" sz="1600" dirty="0"/>
              <a:t>Game-playing emphasizes being able to make optimal decisions in a finite amount of time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Somewhat realistic as a model of a real-world agent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Even if games themselves are artificial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01800" y="273423"/>
            <a:ext cx="6984135" cy="1144631"/>
          </a:xfrm>
        </p:spPr>
        <p:txBody>
          <a:bodyPr/>
          <a:lstStyle/>
          <a:p>
            <a:pPr eaLnBrk="1" hangingPunct="1"/>
            <a:r>
              <a:rPr lang="en-US" sz="1800" dirty="0"/>
              <a:t>Partial Game Tree for Tic-Tac-Toe</a:t>
            </a:r>
            <a:endParaRPr lang="en-US" dirty="0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1800" y="1524000"/>
            <a:ext cx="6604000" cy="45672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69925"/>
            <a:ext cx="6704735" cy="748129"/>
          </a:xfrm>
        </p:spPr>
        <p:txBody>
          <a:bodyPr/>
          <a:lstStyle/>
          <a:p>
            <a:pPr eaLnBrk="1" hangingPunct="1"/>
            <a:r>
              <a:rPr lang="en-US" sz="2400" dirty="0"/>
              <a:t>Game tree (2-player, deterministic, turns)</a:t>
            </a:r>
          </a:p>
        </p:txBody>
      </p:sp>
      <p:pic>
        <p:nvPicPr>
          <p:cNvPr id="32771" name="Picture 3" descr="tictacto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1767" y="1502421"/>
            <a:ext cx="5943600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981200" y="5817476"/>
            <a:ext cx="6148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Georgia" charset="0"/>
              </a:rPr>
              <a:t>How do we search this tree to find the optimal move?</a:t>
            </a:r>
            <a:endParaRPr lang="en-US" dirty="0">
              <a:solidFill>
                <a:srgbClr val="FF0000"/>
              </a:solidFill>
              <a:latin typeface="Georgia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err="1">
                <a:solidFill>
                  <a:srgbClr val="7B9899"/>
                </a:solidFill>
              </a:rPr>
              <a:t>Minimax</a:t>
            </a:r>
            <a:r>
              <a:rPr lang="en-US" sz="2800" dirty="0">
                <a:solidFill>
                  <a:srgbClr val="7B9899"/>
                </a:solidFill>
              </a:rPr>
              <a:t> strategy: Look ahead and reason backwards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dirty="0"/>
              <a:t>Find the optimal </a:t>
            </a:r>
            <a:r>
              <a:rPr lang="en-US" i="1" dirty="0"/>
              <a:t>strategy</a:t>
            </a:r>
            <a:r>
              <a:rPr lang="en-US" dirty="0"/>
              <a:t> for MAX assuming an infallible MIN opponent</a:t>
            </a:r>
          </a:p>
          <a:p>
            <a:pPr lvl="1" eaLnBrk="1" hangingPunct="1"/>
            <a:r>
              <a:rPr lang="en-US" dirty="0"/>
              <a:t>Need to compute this all the down the tree</a:t>
            </a:r>
          </a:p>
          <a:p>
            <a:pPr lvl="1" eaLnBrk="1" hangingPunct="1"/>
            <a:r>
              <a:rPr lang="en-US" dirty="0">
                <a:hlinkClick r:id="rId3"/>
              </a:rPr>
              <a:t>Game Tree Search Demo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eaLnBrk="1" hangingPunct="1"/>
            <a:r>
              <a:rPr lang="en-US" dirty="0"/>
              <a:t>Assumption: Both players play optimally!</a:t>
            </a:r>
          </a:p>
          <a:p>
            <a:pPr eaLnBrk="1" hangingPunct="1"/>
            <a:r>
              <a:rPr lang="en-US" dirty="0"/>
              <a:t>Given a game tree, the optimal strategy can be determined by using the </a:t>
            </a:r>
            <a:r>
              <a:rPr lang="en-US" b="1" dirty="0" err="1"/>
              <a:t>minimax</a:t>
            </a:r>
            <a:r>
              <a:rPr lang="en-US" b="1" dirty="0"/>
              <a:t> value of each node.</a:t>
            </a:r>
            <a:endParaRPr lang="en-US" dirty="0"/>
          </a:p>
          <a:p>
            <a:pPr eaLnBrk="1" hangingPunct="1"/>
            <a:r>
              <a:rPr lang="en-US" dirty="0" err="1"/>
              <a:t>Zermelo</a:t>
            </a:r>
            <a:r>
              <a:rPr lang="en-US" dirty="0"/>
              <a:t> 1912.</a:t>
            </a:r>
          </a:p>
          <a:p>
            <a:pPr eaLnBrk="1" hangingPunct="1">
              <a:buFontTx/>
              <a:buNone/>
            </a:pPr>
            <a:endParaRPr lang="en-US" sz="1400" dirty="0"/>
          </a:p>
          <a:p>
            <a:pPr eaLnBrk="1" hangingPunct="1">
              <a:buFontTx/>
              <a:buNone/>
            </a:pPr>
            <a:r>
              <a:rPr lang="en-US" sz="1600" dirty="0"/>
              <a:t>	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/>
              <a:t>Two-Ply Game Tree</a:t>
            </a: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514600"/>
            <a:ext cx="7620000" cy="302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2971800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3048000"/>
            <a:ext cx="304800" cy="2968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0" y="2905125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8400" y="4200525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2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4343400"/>
            <a:ext cx="304800" cy="219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15200" y="4495800"/>
            <a:ext cx="304800" cy="1793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4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4495800"/>
            <a:ext cx="304800" cy="1793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5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4386263"/>
            <a:ext cx="152400" cy="1095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6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7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8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468813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79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359275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0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1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2" name="Picture 1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81400" y="4468813"/>
            <a:ext cx="457200" cy="269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3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4359275"/>
            <a:ext cx="228600" cy="165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4" name="Picture 2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5" name="Picture 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6" name="Picture 2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7" name="Picture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8" name="Picture 2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14600" y="5181600"/>
            <a:ext cx="6324600" cy="377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89" name="Picture 2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33800" y="363855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90" name="Picture 2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0" y="35814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91" name="Picture 2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43800" y="35814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6892" name="Picture 2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25146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/>
              <a:t>Two-Ply Game Tree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514600"/>
            <a:ext cx="7620000" cy="302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2971800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3048000"/>
            <a:ext cx="304800" cy="2968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0" y="2905125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8400" y="4200525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4343400"/>
            <a:ext cx="304800" cy="219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1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15200" y="4495800"/>
            <a:ext cx="304800" cy="1793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4495800"/>
            <a:ext cx="304800" cy="1793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4386263"/>
            <a:ext cx="152400" cy="1095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5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6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468813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359275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8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29" name="Picture 1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0" name="Picture 1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81400" y="4468813"/>
            <a:ext cx="457200" cy="269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1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4359275"/>
            <a:ext cx="228600" cy="165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2" name="Picture 2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3" name="Picture 2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4" name="Picture 2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4452938"/>
            <a:ext cx="304800" cy="1793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5" name="Picture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24200" y="4343400"/>
            <a:ext cx="152400" cy="109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6" name="Picture 2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33800" y="363855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7" name="Picture 2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0" y="35814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8" name="Picture 2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43800" y="35814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38939" name="Picture 2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25146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/>
              <a:t>Two-Ply Game Tree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514600"/>
            <a:ext cx="7620000" cy="302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9000" y="2971800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3048000"/>
            <a:ext cx="304800" cy="2968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0" y="2905125"/>
            <a:ext cx="762000" cy="447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40967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91200" y="2514600"/>
            <a:ext cx="381000" cy="400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25146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cxnSp>
        <p:nvCxnSpPr>
          <p:cNvPr id="40969" name="AutoShape 9"/>
          <p:cNvCxnSpPr>
            <a:cxnSpLocks noChangeShapeType="1"/>
            <a:stCxn id="40968" idx="2"/>
          </p:cNvCxnSpPr>
          <p:nvPr/>
        </p:nvCxnSpPr>
        <p:spPr bwMode="auto">
          <a:xfrm rot="10800000" flipH="1">
            <a:off x="2514600" y="3810000"/>
            <a:ext cx="914400" cy="1447800"/>
          </a:xfrm>
          <a:prstGeom prst="curvedConnector4">
            <a:avLst>
              <a:gd name="adj1" fmla="val -25000"/>
              <a:gd name="adj2" fmla="val 78398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</p:spPr>
      </p:cxn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84582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>
            <a:off x="4724400" y="5105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 flipH="1">
            <a:off x="5334000" y="3810000"/>
            <a:ext cx="76200" cy="152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cxnSp>
        <p:nvCxnSpPr>
          <p:cNvPr id="40973" name="AutoShape 13"/>
          <p:cNvCxnSpPr>
            <a:cxnSpLocks noChangeShapeType="1"/>
            <a:stCxn id="40971" idx="2"/>
            <a:endCxn id="40972" idx="0"/>
          </p:cNvCxnSpPr>
          <p:nvPr/>
        </p:nvCxnSpPr>
        <p:spPr bwMode="auto">
          <a:xfrm rot="10800000" flipH="1">
            <a:off x="4724400" y="3810000"/>
            <a:ext cx="647700" cy="1447800"/>
          </a:xfrm>
          <a:prstGeom prst="curvedConnector4">
            <a:avLst>
              <a:gd name="adj1" fmla="val -35296"/>
              <a:gd name="adj2" fmla="val 95833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</p:spPr>
      </p:cxnSp>
      <p:cxnSp>
        <p:nvCxnSpPr>
          <p:cNvPr id="40974" name="AutoShape 14"/>
          <p:cNvCxnSpPr>
            <a:cxnSpLocks noChangeShapeType="1"/>
            <a:stCxn id="40970" idx="6"/>
          </p:cNvCxnSpPr>
          <p:nvPr/>
        </p:nvCxnSpPr>
        <p:spPr bwMode="auto">
          <a:xfrm flipH="1" flipV="1">
            <a:off x="7772400" y="3721100"/>
            <a:ext cx="990600" cy="1536700"/>
          </a:xfrm>
          <a:prstGeom prst="curvedConnector4">
            <a:avLst>
              <a:gd name="adj1" fmla="val -23079"/>
              <a:gd name="adj2" fmla="val 98343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/>
              <a:t>Two-Ply Game Tree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514600"/>
            <a:ext cx="7620000" cy="302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3657600" y="3581400"/>
            <a:ext cx="304800" cy="304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cxnSp>
        <p:nvCxnSpPr>
          <p:cNvPr id="43013" name="AutoShape 5"/>
          <p:cNvCxnSpPr>
            <a:cxnSpLocks noChangeShapeType="1"/>
            <a:stCxn id="43012" idx="2"/>
          </p:cNvCxnSpPr>
          <p:nvPr/>
        </p:nvCxnSpPr>
        <p:spPr bwMode="auto">
          <a:xfrm rot="10800000" flipH="1">
            <a:off x="3657600" y="2667000"/>
            <a:ext cx="1752600" cy="1066800"/>
          </a:xfrm>
          <a:prstGeom prst="curvedConnector3">
            <a:avLst>
              <a:gd name="adj1" fmla="val -13042"/>
            </a:avLst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</p:spPr>
      </p:cxn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895600" y="2359025"/>
            <a:ext cx="2405063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i="1">
                <a:solidFill>
                  <a:srgbClr val="FF0000"/>
                </a:solidFill>
                <a:latin typeface="Verdana" charset="0"/>
              </a:rPr>
              <a:t>The minimax decision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609600" y="1412875"/>
            <a:ext cx="6837363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Verdana" charset="0"/>
              </a:rPr>
              <a:t>Minimax maximizes the utility for the worst-case outcome for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04901"/>
            <a:ext cx="8228437" cy="1144631"/>
          </a:xfrm>
        </p:spPr>
        <p:txBody>
          <a:bodyPr/>
          <a:lstStyle/>
          <a:p>
            <a:pPr algn="ctr" eaLnBrk="1" hangingPunct="1"/>
            <a:r>
              <a:rPr lang="en-US" sz="3200" dirty="0"/>
              <a:t>What if MIN does not play optimally?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Definition of optimal play for MAX assumes MIN plays optimally:</a:t>
            </a:r>
          </a:p>
          <a:p>
            <a:pPr lvl="1" eaLnBrk="1" hangingPunct="1"/>
            <a:r>
              <a:rPr lang="en-US" sz="2400" dirty="0"/>
              <a:t>maximizes worst-case outcome for MAX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400" dirty="0"/>
              <a:t>But if MIN does not play optimally, MAX will do even better</a:t>
            </a:r>
          </a:p>
          <a:p>
            <a:pPr lvl="1" eaLnBrk="1" hangingPunct="1"/>
            <a:r>
              <a:rPr lang="en-US" sz="2400" dirty="0"/>
              <a:t>Can prove this (Problem 6.2)</a:t>
            </a:r>
          </a:p>
          <a:p>
            <a:pPr eaLnBrk="1" hangingPunct="1">
              <a:buFontTx/>
              <a:buNone/>
            </a:pPr>
            <a:endParaRPr lang="en-US" sz="24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165975" cy="331787"/>
          </a:xfrm>
        </p:spPr>
        <p:txBody>
          <a:bodyPr/>
          <a:lstStyle/>
          <a:p>
            <a:pPr eaLnBrk="1" hangingPunct="1"/>
            <a:r>
              <a:rPr lang="en-US" sz="4000" dirty="0"/>
              <a:t>Pseudocode for Minimax Algorithm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1295400" y="1447800"/>
            <a:ext cx="6813550" cy="1200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 charset="0"/>
              </a:rPr>
              <a:t>function </a:t>
            </a:r>
            <a:r>
              <a:rPr lang="en-US">
                <a:latin typeface="Times New Roman" charset="0"/>
              </a:rPr>
              <a:t>MINIMAX-DECISION(</a:t>
            </a:r>
            <a:r>
              <a:rPr lang="en-US" i="1">
                <a:latin typeface="Times New Roman" charset="0"/>
              </a:rPr>
              <a:t>state</a:t>
            </a:r>
            <a:r>
              <a:rPr lang="en-US">
                <a:latin typeface="Times New Roman" charset="0"/>
              </a:rPr>
              <a:t>)</a:t>
            </a:r>
            <a:r>
              <a:rPr lang="en-US" b="1">
                <a:latin typeface="Times New Roman" charset="0"/>
              </a:rPr>
              <a:t> returns </a:t>
            </a:r>
            <a:r>
              <a:rPr lang="en-US" i="1">
                <a:latin typeface="Times New Roman" charset="0"/>
              </a:rPr>
              <a:t>an action</a:t>
            </a:r>
          </a:p>
          <a:p>
            <a:r>
              <a:rPr lang="en-US" b="1">
                <a:latin typeface="Times New Roman" charset="0"/>
              </a:rPr>
              <a:t>   </a:t>
            </a:r>
            <a:r>
              <a:rPr lang="en-US" sz="1600" b="1">
                <a:latin typeface="Times New Roman" charset="0"/>
              </a:rPr>
              <a:t>inputs</a:t>
            </a:r>
            <a:r>
              <a:rPr lang="en-US" b="1">
                <a:latin typeface="Times New Roman" charset="0"/>
              </a:rPr>
              <a:t>: </a:t>
            </a:r>
            <a:r>
              <a:rPr lang="en-US" i="1">
                <a:latin typeface="Times New Roman" charset="0"/>
              </a:rPr>
              <a:t>state</a:t>
            </a:r>
            <a:r>
              <a:rPr lang="en-US">
                <a:latin typeface="Times New Roman" charset="0"/>
              </a:rPr>
              <a:t>, current state in game</a:t>
            </a:r>
          </a:p>
          <a:p>
            <a:r>
              <a:rPr lang="en-US" b="1">
                <a:latin typeface="Times New Roman" charset="0"/>
              </a:rPr>
              <a:t>   </a:t>
            </a:r>
            <a:r>
              <a:rPr lang="en-US" i="1">
                <a:latin typeface="Times New Roman" charset="0"/>
              </a:rPr>
              <a:t>v</a:t>
            </a:r>
            <a:r>
              <a:rPr lang="en-US">
                <a:latin typeface="Times New Roman" charset="0"/>
                <a:sym typeface="Symbol" charset="2"/>
              </a:rPr>
              <a:t></a:t>
            </a:r>
            <a:r>
              <a:rPr lang="en-US">
                <a:latin typeface="MS Shell Dlg" charset="0"/>
              </a:rPr>
              <a:t>MAX-VALUE(</a:t>
            </a:r>
            <a:r>
              <a:rPr lang="en-US" i="1">
                <a:latin typeface="MS Shell Dlg" charset="0"/>
              </a:rPr>
              <a:t>state</a:t>
            </a:r>
            <a:r>
              <a:rPr lang="en-US">
                <a:latin typeface="MS Shell Dlg" charset="0"/>
              </a:rPr>
              <a:t>)</a:t>
            </a:r>
          </a:p>
          <a:p>
            <a:r>
              <a:rPr lang="en-US" b="1">
                <a:latin typeface="MS Shell Dlg" charset="0"/>
              </a:rPr>
              <a:t>   return </a:t>
            </a:r>
            <a:r>
              <a:rPr lang="en-US">
                <a:latin typeface="MS Shell Dlg" charset="0"/>
              </a:rPr>
              <a:t>the </a:t>
            </a:r>
            <a:r>
              <a:rPr lang="en-US" i="1">
                <a:latin typeface="MS Shell Dlg" charset="0"/>
              </a:rPr>
              <a:t>action</a:t>
            </a:r>
            <a:r>
              <a:rPr lang="en-US">
                <a:latin typeface="MS Shell Dlg" charset="0"/>
              </a:rPr>
              <a:t> in SUCCESSORS(</a:t>
            </a:r>
            <a:r>
              <a:rPr lang="en-US" i="1">
                <a:latin typeface="MS Shell Dlg" charset="0"/>
              </a:rPr>
              <a:t>state</a:t>
            </a:r>
            <a:r>
              <a:rPr lang="en-US">
                <a:latin typeface="MS Shell Dlg" charset="0"/>
              </a:rPr>
              <a:t>) with value </a:t>
            </a:r>
            <a:r>
              <a:rPr lang="en-US" i="1">
                <a:latin typeface="MS Shell Dlg" charset="0"/>
              </a:rPr>
              <a:t>v</a:t>
            </a:r>
            <a:endParaRPr lang="en-US" i="1">
              <a:latin typeface="Times New Roman" charset="0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752600" y="4495800"/>
            <a:ext cx="5911850" cy="1816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b="1" baseline="30000">
                <a:latin typeface="Times New Roman" charset="0"/>
              </a:rPr>
              <a:t>function </a:t>
            </a:r>
            <a:r>
              <a:rPr lang="en-US" sz="2800" baseline="30000">
                <a:latin typeface="Times New Roman" charset="0"/>
              </a:rPr>
              <a:t>MIN-VALUE(</a:t>
            </a:r>
            <a:r>
              <a:rPr lang="en-US" sz="2800" i="1" baseline="30000">
                <a:latin typeface="Times New Roman" charset="0"/>
              </a:rPr>
              <a:t>state</a:t>
            </a:r>
            <a:r>
              <a:rPr lang="en-US" sz="2800" baseline="30000">
                <a:latin typeface="Times New Roman" charset="0"/>
              </a:rPr>
              <a:t>)</a:t>
            </a:r>
            <a:r>
              <a:rPr lang="en-US" sz="2800" b="1" baseline="30000">
                <a:latin typeface="Times New Roman" charset="0"/>
              </a:rPr>
              <a:t> returns </a:t>
            </a:r>
            <a:r>
              <a:rPr lang="en-US" sz="2800" i="1" baseline="30000">
                <a:latin typeface="Times New Roman" charset="0"/>
              </a:rPr>
              <a:t>a utility value</a:t>
            </a:r>
          </a:p>
          <a:p>
            <a:r>
              <a:rPr lang="en-US" sz="2800" b="1" baseline="30000">
                <a:latin typeface="Times New Roman" charset="0"/>
              </a:rPr>
              <a:t>   if </a:t>
            </a:r>
            <a:r>
              <a:rPr lang="en-US" sz="2800" baseline="30000">
                <a:latin typeface="Times New Roman" charset="0"/>
              </a:rPr>
              <a:t>TERMINAL-TEST(</a:t>
            </a:r>
            <a:r>
              <a:rPr lang="en-US" sz="2800" i="1" baseline="30000">
                <a:latin typeface="Times New Roman" charset="0"/>
              </a:rPr>
              <a:t>state</a:t>
            </a:r>
            <a:r>
              <a:rPr lang="en-US" sz="2800" baseline="30000">
                <a:latin typeface="Times New Roman" charset="0"/>
              </a:rPr>
              <a:t>) </a:t>
            </a:r>
            <a:r>
              <a:rPr lang="en-US" sz="2800" b="1" baseline="30000">
                <a:latin typeface="Times New Roman" charset="0"/>
              </a:rPr>
              <a:t>then return</a:t>
            </a:r>
            <a:r>
              <a:rPr lang="en-US" sz="2800" baseline="30000">
                <a:latin typeface="Times New Roman" charset="0"/>
              </a:rPr>
              <a:t> UTILITY(</a:t>
            </a:r>
            <a:r>
              <a:rPr lang="en-US" sz="2800" i="1" baseline="30000">
                <a:latin typeface="Times New Roman" charset="0"/>
              </a:rPr>
              <a:t>state</a:t>
            </a:r>
            <a:r>
              <a:rPr lang="en-US" sz="2800" baseline="30000">
                <a:latin typeface="Times New Roman" charset="0"/>
              </a:rPr>
              <a:t>)</a:t>
            </a:r>
            <a:endParaRPr lang="en-US" sz="2800" b="1" baseline="30000">
              <a:latin typeface="Times New Roman" charset="0"/>
            </a:endParaRPr>
          </a:p>
          <a:p>
            <a:r>
              <a:rPr lang="en-US" sz="2800" b="1" baseline="30000">
                <a:latin typeface="Times New Roman" charset="0"/>
              </a:rPr>
              <a:t>   </a:t>
            </a:r>
            <a:r>
              <a:rPr lang="en-US" sz="2800" i="1" baseline="30000">
                <a:latin typeface="Times New Roman" charset="0"/>
              </a:rPr>
              <a:t>v </a:t>
            </a:r>
            <a:r>
              <a:rPr lang="en-US" sz="2800" baseline="30000">
                <a:latin typeface="Times New Roman" charset="0"/>
                <a:sym typeface="Symbol" charset="2"/>
              </a:rPr>
              <a:t></a:t>
            </a:r>
            <a:r>
              <a:rPr lang="en-US" sz="2800" baseline="30000">
                <a:latin typeface="Times New Roman" charset="0"/>
              </a:rPr>
              <a:t> ∞</a:t>
            </a:r>
          </a:p>
          <a:p>
            <a:r>
              <a:rPr lang="en-US" sz="2800" b="1" baseline="30000">
                <a:latin typeface="MS Shell Dlg" charset="0"/>
              </a:rPr>
              <a:t>   for </a:t>
            </a:r>
            <a:r>
              <a:rPr lang="en-US" sz="2800" i="1" baseline="30000">
                <a:latin typeface="MS Shell Dlg" charset="0"/>
              </a:rPr>
              <a:t>a,s</a:t>
            </a:r>
            <a:r>
              <a:rPr lang="en-US" sz="2800" baseline="30000">
                <a:latin typeface="MS Shell Dlg" charset="0"/>
              </a:rPr>
              <a:t> in SUCCESSORS(</a:t>
            </a:r>
            <a:r>
              <a:rPr lang="en-US" sz="2800" i="1" baseline="30000">
                <a:latin typeface="MS Shell Dlg" charset="0"/>
              </a:rPr>
              <a:t>state</a:t>
            </a:r>
            <a:r>
              <a:rPr lang="en-US" sz="2800" baseline="30000">
                <a:latin typeface="MS Shell Dlg" charset="0"/>
              </a:rPr>
              <a:t>) </a:t>
            </a:r>
            <a:r>
              <a:rPr lang="en-US" sz="2800" b="1" baseline="30000">
                <a:latin typeface="MS Shell Dlg" charset="0"/>
              </a:rPr>
              <a:t>do</a:t>
            </a:r>
          </a:p>
          <a:p>
            <a:r>
              <a:rPr lang="en-US" sz="2800" b="1" baseline="30000">
                <a:latin typeface="Times New Roman" charset="0"/>
              </a:rPr>
              <a:t>      </a:t>
            </a:r>
            <a:r>
              <a:rPr lang="en-US" sz="2800" i="1" baseline="30000">
                <a:latin typeface="Times New Roman" charset="0"/>
              </a:rPr>
              <a:t>v </a:t>
            </a:r>
            <a:r>
              <a:rPr lang="en-US" sz="2800" baseline="30000">
                <a:latin typeface="Times New Roman" charset="0"/>
                <a:sym typeface="Symbol" charset="2"/>
              </a:rPr>
              <a:t></a:t>
            </a:r>
            <a:r>
              <a:rPr lang="en-US" sz="2800" baseline="30000">
                <a:latin typeface="Times New Roman" charset="0"/>
              </a:rPr>
              <a:t> </a:t>
            </a:r>
            <a:r>
              <a:rPr lang="en-US" sz="2800" baseline="30000">
                <a:latin typeface="MS Shell Dlg" charset="0"/>
              </a:rPr>
              <a:t>MIN(</a:t>
            </a:r>
            <a:r>
              <a:rPr lang="en-US" sz="2800" i="1" baseline="30000">
                <a:latin typeface="MS Shell Dlg" charset="0"/>
              </a:rPr>
              <a:t>v,</a:t>
            </a:r>
            <a:r>
              <a:rPr lang="en-US" sz="2800" baseline="30000">
                <a:latin typeface="MS Shell Dlg" charset="0"/>
              </a:rPr>
              <a:t>MAX-VALUE(</a:t>
            </a:r>
            <a:r>
              <a:rPr lang="en-US" sz="2800" i="1" baseline="30000">
                <a:latin typeface="MS Shell Dlg" charset="0"/>
              </a:rPr>
              <a:t>s</a:t>
            </a:r>
            <a:r>
              <a:rPr lang="en-US" sz="2800" baseline="30000">
                <a:latin typeface="MS Shell Dlg" charset="0"/>
              </a:rPr>
              <a:t>))</a:t>
            </a:r>
          </a:p>
          <a:p>
            <a:r>
              <a:rPr lang="en-US" sz="2800" b="1" baseline="30000">
                <a:latin typeface="MS Shell Dlg" charset="0"/>
              </a:rPr>
              <a:t>   return </a:t>
            </a:r>
            <a:r>
              <a:rPr lang="en-US" sz="2800" i="1" baseline="30000">
                <a:latin typeface="Times New Roman" charset="0"/>
                <a:sym typeface="Symbol" charset="2"/>
              </a:rPr>
              <a:t>v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371600" y="2743200"/>
            <a:ext cx="6400800" cy="1570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 charset="0"/>
              </a:rPr>
              <a:t>function </a:t>
            </a:r>
            <a:r>
              <a:rPr lang="en-US" sz="1600">
                <a:latin typeface="Times New Roman" charset="0"/>
              </a:rPr>
              <a:t>MAX-VALUE(</a:t>
            </a:r>
            <a:r>
              <a:rPr lang="en-US" sz="1600" i="1">
                <a:latin typeface="Times New Roman" charset="0"/>
              </a:rPr>
              <a:t>state</a:t>
            </a:r>
            <a:r>
              <a:rPr lang="en-US" sz="1600">
                <a:latin typeface="Times New Roman" charset="0"/>
              </a:rPr>
              <a:t>)</a:t>
            </a:r>
            <a:r>
              <a:rPr lang="en-US" sz="1600" b="1">
                <a:latin typeface="Times New Roman" charset="0"/>
              </a:rPr>
              <a:t> returns </a:t>
            </a:r>
            <a:r>
              <a:rPr lang="en-US" sz="1600" i="1">
                <a:latin typeface="Times New Roman" charset="0"/>
              </a:rPr>
              <a:t>a utility value</a:t>
            </a:r>
          </a:p>
          <a:p>
            <a:r>
              <a:rPr lang="en-US" sz="1600" b="1">
                <a:latin typeface="Times New Roman" charset="0"/>
              </a:rPr>
              <a:t>   if </a:t>
            </a:r>
            <a:r>
              <a:rPr lang="en-US" sz="1600">
                <a:latin typeface="Times New Roman" charset="0"/>
              </a:rPr>
              <a:t>TERMINAL-TEST(</a:t>
            </a:r>
            <a:r>
              <a:rPr lang="en-US" sz="1600" i="1">
                <a:latin typeface="Times New Roman" charset="0"/>
              </a:rPr>
              <a:t>state</a:t>
            </a:r>
            <a:r>
              <a:rPr lang="en-US" sz="1600">
                <a:latin typeface="Times New Roman" charset="0"/>
              </a:rPr>
              <a:t>) </a:t>
            </a:r>
            <a:r>
              <a:rPr lang="en-US" sz="1600" b="1">
                <a:latin typeface="Times New Roman" charset="0"/>
              </a:rPr>
              <a:t>then return</a:t>
            </a:r>
            <a:r>
              <a:rPr lang="en-US" sz="1600">
                <a:latin typeface="Times New Roman" charset="0"/>
              </a:rPr>
              <a:t> UTILITY(</a:t>
            </a:r>
            <a:r>
              <a:rPr lang="en-US" sz="1600" i="1">
                <a:latin typeface="Times New Roman" charset="0"/>
              </a:rPr>
              <a:t>state</a:t>
            </a:r>
            <a:r>
              <a:rPr lang="en-US" sz="1600">
                <a:latin typeface="Times New Roman" charset="0"/>
              </a:rPr>
              <a:t>)</a:t>
            </a:r>
            <a:endParaRPr lang="en-US" sz="1600" b="1">
              <a:latin typeface="Times New Roman" charset="0"/>
            </a:endParaRPr>
          </a:p>
          <a:p>
            <a:r>
              <a:rPr lang="en-US" sz="1600" b="1">
                <a:latin typeface="Times New Roman" charset="0"/>
              </a:rPr>
              <a:t>   </a:t>
            </a:r>
            <a:r>
              <a:rPr lang="en-US" sz="1600" i="1">
                <a:latin typeface="Times New Roman" charset="0"/>
              </a:rPr>
              <a:t>v </a:t>
            </a:r>
            <a:r>
              <a:rPr lang="en-US" sz="1600">
                <a:latin typeface="Times New Roman" charset="0"/>
                <a:sym typeface="Symbol" charset="2"/>
              </a:rPr>
              <a:t></a:t>
            </a:r>
            <a:r>
              <a:rPr lang="en-US" sz="1600">
                <a:latin typeface="Times New Roman" charset="0"/>
              </a:rPr>
              <a:t> -∞</a:t>
            </a:r>
          </a:p>
          <a:p>
            <a:r>
              <a:rPr lang="en-US" sz="1600" b="1">
                <a:latin typeface="MS Shell Dlg" charset="0"/>
              </a:rPr>
              <a:t>   for </a:t>
            </a:r>
            <a:r>
              <a:rPr lang="en-US" sz="1600" i="1">
                <a:latin typeface="MS Shell Dlg" charset="0"/>
              </a:rPr>
              <a:t>a,s</a:t>
            </a:r>
            <a:r>
              <a:rPr lang="en-US" sz="1600">
                <a:latin typeface="MS Shell Dlg" charset="0"/>
              </a:rPr>
              <a:t> in SUCCESSORS(</a:t>
            </a:r>
            <a:r>
              <a:rPr lang="en-US" sz="1600" i="1">
                <a:latin typeface="MS Shell Dlg" charset="0"/>
              </a:rPr>
              <a:t>state</a:t>
            </a:r>
            <a:r>
              <a:rPr lang="en-US" sz="1600">
                <a:latin typeface="MS Shell Dlg" charset="0"/>
              </a:rPr>
              <a:t>) </a:t>
            </a:r>
            <a:r>
              <a:rPr lang="en-US" sz="1600" b="1">
                <a:latin typeface="MS Shell Dlg" charset="0"/>
              </a:rPr>
              <a:t>do</a:t>
            </a:r>
          </a:p>
          <a:p>
            <a:r>
              <a:rPr lang="en-US" sz="1600" b="1">
                <a:latin typeface="Times New Roman" charset="0"/>
              </a:rPr>
              <a:t>      </a:t>
            </a:r>
            <a:r>
              <a:rPr lang="en-US" sz="1600" i="1">
                <a:latin typeface="Times New Roman" charset="0"/>
              </a:rPr>
              <a:t>v </a:t>
            </a:r>
            <a:r>
              <a:rPr lang="en-US" sz="1600">
                <a:latin typeface="Times New Roman" charset="0"/>
                <a:sym typeface="Symbol" charset="2"/>
              </a:rPr>
              <a:t></a:t>
            </a:r>
            <a:r>
              <a:rPr lang="en-US" sz="1600">
                <a:latin typeface="Times New Roman" charset="0"/>
              </a:rPr>
              <a:t> </a:t>
            </a:r>
            <a:r>
              <a:rPr lang="en-US" sz="1600">
                <a:latin typeface="MS Shell Dlg" charset="0"/>
              </a:rPr>
              <a:t>MAX(</a:t>
            </a:r>
            <a:r>
              <a:rPr lang="en-US" sz="1600" i="1">
                <a:latin typeface="MS Shell Dlg" charset="0"/>
              </a:rPr>
              <a:t>v,</a:t>
            </a:r>
            <a:r>
              <a:rPr lang="en-US" sz="1600">
                <a:latin typeface="MS Shell Dlg" charset="0"/>
              </a:rPr>
              <a:t>MIN-VALUE(</a:t>
            </a:r>
            <a:r>
              <a:rPr lang="en-US" sz="1600" i="1">
                <a:latin typeface="MS Shell Dlg" charset="0"/>
              </a:rPr>
              <a:t>s</a:t>
            </a:r>
            <a:r>
              <a:rPr lang="en-US" sz="1600">
                <a:latin typeface="MS Shell Dlg" charset="0"/>
              </a:rPr>
              <a:t>))</a:t>
            </a:r>
          </a:p>
          <a:p>
            <a:r>
              <a:rPr lang="en-US" sz="1600" b="1">
                <a:latin typeface="MS Shell Dlg" charset="0"/>
              </a:rPr>
              <a:t>   return </a:t>
            </a:r>
            <a:r>
              <a:rPr lang="en-US" sz="1600" i="1">
                <a:latin typeface="Times New Roman" charset="0"/>
                <a:sym typeface="Symbol" charset="2"/>
              </a:rPr>
              <a:t>v</a:t>
            </a:r>
          </a:p>
        </p:txBody>
      </p:sp>
      <p:sp>
        <p:nvSpPr>
          <p:cNvPr id="49158" name="Line 7"/>
          <p:cNvSpPr>
            <a:spLocks noChangeShapeType="1"/>
          </p:cNvSpPr>
          <p:nvPr/>
        </p:nvSpPr>
        <p:spPr bwMode="auto">
          <a:xfrm>
            <a:off x="228600" y="4419600"/>
            <a:ext cx="861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1447800" y="2057400"/>
            <a:ext cx="6076950" cy="228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1600200" y="3733800"/>
            <a:ext cx="37338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1981200" y="5562600"/>
            <a:ext cx="37338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Georgia" charset="0"/>
            </a:endParaRPr>
          </a:p>
        </p:txBody>
      </p:sp>
      <p:sp>
        <p:nvSpPr>
          <p:cNvPr id="49162" name="Line 7"/>
          <p:cNvSpPr>
            <a:spLocks noChangeShapeType="1"/>
          </p:cNvSpPr>
          <p:nvPr/>
        </p:nvSpPr>
        <p:spPr bwMode="auto">
          <a:xfrm>
            <a:off x="228600" y="2743200"/>
            <a:ext cx="853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7" grpId="0" animBg="1"/>
      <p:bldP spid="78858" grpId="0" animBg="1"/>
      <p:bldP spid="7885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778541" y="305627"/>
            <a:ext cx="8228763" cy="1144631"/>
          </a:xfrm>
        </p:spPr>
        <p:txBody>
          <a:bodyPr/>
          <a:lstStyle/>
          <a:p>
            <a:pPr eaLnBrk="1" hangingPunct="1"/>
            <a:r>
              <a:rPr lang="en-US" dirty="0"/>
              <a:t>Example </a:t>
            </a:r>
            <a:r>
              <a:rPr lang="en-US" sz="4000" dirty="0"/>
              <a:t>of</a:t>
            </a:r>
            <a:r>
              <a:rPr lang="en-US" dirty="0"/>
              <a:t> Algorithm Execution</a:t>
            </a:r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1905000"/>
            <a:ext cx="6357938" cy="385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Box 3"/>
          <p:cNvSpPr txBox="1">
            <a:spLocks noChangeArrowheads="1"/>
          </p:cNvSpPr>
          <p:nvPr/>
        </p:nvSpPr>
        <p:spPr bwMode="auto">
          <a:xfrm>
            <a:off x="838200" y="1447800"/>
            <a:ext cx="15700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MAX to move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57200"/>
            <a:ext cx="7008882" cy="960418"/>
          </a:xfrm>
        </p:spPr>
        <p:txBody>
          <a:bodyPr/>
          <a:lstStyle/>
          <a:p>
            <a:pPr eaLnBrk="1" hangingPunct="1"/>
            <a:r>
              <a:rPr lang="en-US" sz="4000" dirty="0"/>
              <a:t>Minimax Algorithm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1066799" y="1600200"/>
            <a:ext cx="7739063" cy="4648200"/>
          </a:xfrm>
        </p:spPr>
        <p:txBody>
          <a:bodyPr/>
          <a:lstStyle/>
          <a:p>
            <a:pPr eaLnBrk="1" hangingPunct="1"/>
            <a:r>
              <a:rPr lang="en-US" dirty="0"/>
              <a:t>Complete depth-first exploration of the game tree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Assumptions:</a:t>
            </a:r>
          </a:p>
          <a:p>
            <a:pPr lvl="1" eaLnBrk="1" hangingPunct="1"/>
            <a:r>
              <a:rPr lang="en-US" dirty="0"/>
              <a:t>Max depth = d, b legal moves at each point</a:t>
            </a:r>
          </a:p>
          <a:p>
            <a:pPr lvl="1" eaLnBrk="1" hangingPunct="1"/>
            <a:r>
              <a:rPr lang="en-US" dirty="0"/>
              <a:t>E.g., Chess: d ~ 100, b ~35</a:t>
            </a:r>
          </a:p>
        </p:txBody>
      </p:sp>
      <p:graphicFrame>
        <p:nvGraphicFramePr>
          <p:cNvPr id="89092" name="Group 4"/>
          <p:cNvGraphicFramePr>
            <a:graphicFrameLocks noGrp="1"/>
          </p:cNvGraphicFramePr>
          <p:nvPr/>
        </p:nvGraphicFramePr>
        <p:xfrm>
          <a:off x="4419600" y="3733800"/>
          <a:ext cx="4038600" cy="2438401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Criterion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Minimax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Time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O(b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8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Space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Arial" charset="0"/>
                          <a:cs typeface="Arial" charset="0"/>
                        </a:rPr>
                        <a:t>O(bd)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89106" name="Text Box 18"/>
          <p:cNvSpPr txBox="1">
            <a:spLocks noChangeArrowheads="1"/>
          </p:cNvSpPr>
          <p:nvPr/>
        </p:nvSpPr>
        <p:spPr bwMode="auto">
          <a:xfrm>
            <a:off x="5943600" y="5334000"/>
            <a:ext cx="4413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 charset="0"/>
                <a:sym typeface="Wingdings" charset="2"/>
              </a:rPr>
              <a:t></a:t>
            </a:r>
          </a:p>
        </p:txBody>
      </p:sp>
      <p:sp>
        <p:nvSpPr>
          <p:cNvPr id="89107" name="Text Box 19"/>
          <p:cNvSpPr txBox="1">
            <a:spLocks noChangeArrowheads="1"/>
          </p:cNvSpPr>
          <p:nvPr/>
        </p:nvSpPr>
        <p:spPr bwMode="auto">
          <a:xfrm>
            <a:off x="5943600" y="4343400"/>
            <a:ext cx="4413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 charset="0"/>
                <a:sym typeface="Wingdings" charset="2"/>
              </a:rPr>
              <a:t></a:t>
            </a:r>
            <a:endParaRPr lang="en-US" sz="240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6" grpId="0" autoUpdateAnimBg="0"/>
      <p:bldP spid="8910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533400"/>
            <a:ext cx="7161935" cy="884654"/>
          </a:xfrm>
        </p:spPr>
        <p:txBody>
          <a:bodyPr/>
          <a:lstStyle/>
          <a:p>
            <a:pPr eaLnBrk="1" hangingPunct="1"/>
            <a:r>
              <a:rPr lang="en-US" dirty="0"/>
              <a:t>Multiplayer games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66800" y="1676400"/>
            <a:ext cx="8077200" cy="4343400"/>
          </a:xfrm>
        </p:spPr>
        <p:txBody>
          <a:bodyPr/>
          <a:lstStyle/>
          <a:p>
            <a:pPr eaLnBrk="1" hangingPunct="1"/>
            <a:r>
              <a:rPr lang="en-US" sz="1600" dirty="0"/>
              <a:t>Games allow more than two players</a:t>
            </a:r>
          </a:p>
          <a:p>
            <a:pPr eaLnBrk="1" hangingPunct="1"/>
            <a:endParaRPr lang="en-US" sz="1600" dirty="0"/>
          </a:p>
          <a:p>
            <a:pPr eaLnBrk="1" hangingPunct="1"/>
            <a:r>
              <a:rPr lang="en-US" sz="1600" dirty="0"/>
              <a:t>Single minimax values become vectors</a:t>
            </a:r>
          </a:p>
          <a:p>
            <a:pPr eaLnBrk="1" hangingPunct="1"/>
            <a:endParaRPr lang="en-US" sz="1600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2667000"/>
            <a:ext cx="74422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695335" cy="960854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971800"/>
            <a:ext cx="5708650" cy="162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6" name="TextBox 3"/>
          <p:cNvSpPr txBox="1">
            <a:spLocks noChangeArrowheads="1"/>
          </p:cNvSpPr>
          <p:nvPr/>
        </p:nvSpPr>
        <p:spPr bwMode="auto">
          <a:xfrm>
            <a:off x="990600" y="4724400"/>
            <a:ext cx="69564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 charset="0"/>
              </a:rPr>
              <a:t> </a:t>
            </a:r>
            <a:r>
              <a:rPr lang="en-US" b="1">
                <a:latin typeface="Georgia" charset="0"/>
              </a:rPr>
              <a:t>A</a:t>
            </a:r>
            <a:r>
              <a:rPr lang="en-US">
                <a:latin typeface="Georgia" charset="0"/>
              </a:rPr>
              <a:t> and </a:t>
            </a:r>
            <a:r>
              <a:rPr lang="en-US" b="1">
                <a:latin typeface="Georgia" charset="0"/>
              </a:rPr>
              <a:t>B</a:t>
            </a:r>
            <a:r>
              <a:rPr lang="en-US">
                <a:latin typeface="Georgia" charset="0"/>
              </a:rPr>
              <a:t> make simultaneous moves, illustrates </a:t>
            </a:r>
            <a:r>
              <a:rPr lang="en-US" i="1">
                <a:latin typeface="Georgia" charset="0"/>
              </a:rPr>
              <a:t>minimax</a:t>
            </a:r>
            <a:r>
              <a:rPr lang="en-US">
                <a:latin typeface="Georgia" charset="0"/>
              </a:rPr>
              <a:t> solutions.</a:t>
            </a:r>
          </a:p>
          <a:p>
            <a:r>
              <a:rPr lang="en-US">
                <a:latin typeface="Georgia" charset="0"/>
              </a:rPr>
              <a:t>Can they do better than minimax?</a:t>
            </a:r>
          </a:p>
          <a:p>
            <a:r>
              <a:rPr lang="en-US">
                <a:latin typeface="Georgia" charset="0"/>
              </a:rPr>
              <a:t>Can we make the space less complex? </a:t>
            </a:r>
          </a:p>
          <a:p>
            <a:r>
              <a:rPr lang="en-US">
                <a:latin typeface="Georgia" charset="0"/>
              </a:rPr>
              <a:t>Pure strategy vs mix strategies</a:t>
            </a:r>
          </a:p>
        </p:txBody>
      </p:sp>
      <p:sp>
        <p:nvSpPr>
          <p:cNvPr id="54277" name="TextBox 4"/>
          <p:cNvSpPr txBox="1">
            <a:spLocks noChangeArrowheads="1"/>
          </p:cNvSpPr>
          <p:nvPr/>
        </p:nvSpPr>
        <p:spPr bwMode="auto">
          <a:xfrm>
            <a:off x="990600" y="1524000"/>
            <a:ext cx="8001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Georgia" charset="0"/>
              </a:rPr>
              <a:t>Zero sum games:  </a:t>
            </a:r>
            <a:r>
              <a:rPr lang="en-US" dirty="0">
                <a:latin typeface="Georgia" charset="0"/>
              </a:rPr>
              <a:t> </a:t>
            </a:r>
            <a:r>
              <a:rPr lang="en-US" b="1" dirty="0">
                <a:latin typeface="Georgia" charset="0"/>
              </a:rPr>
              <a:t>zero-sum</a:t>
            </a:r>
            <a:r>
              <a:rPr lang="en-US" dirty="0">
                <a:latin typeface="Georgia" charset="0"/>
              </a:rPr>
              <a:t> describes a situation in which a participant's</a:t>
            </a:r>
          </a:p>
          <a:p>
            <a:r>
              <a:rPr lang="en-US" dirty="0">
                <a:latin typeface="Georgia" charset="0"/>
              </a:rPr>
              <a:t> gain or loss is exactly balanced by the losses or gains of the other participant(s). </a:t>
            </a:r>
          </a:p>
          <a:p>
            <a:r>
              <a:rPr lang="en-US" dirty="0">
                <a:latin typeface="Georgia" charset="0"/>
              </a:rPr>
              <a:t>If the total gains of the participants are added up,  and the total losses are subtracted,  they will sum to zero</a:t>
            </a:r>
            <a:endParaRPr lang="en-US" b="1" dirty="0">
              <a:latin typeface="Georgia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609600"/>
            <a:ext cx="7008882" cy="808018"/>
          </a:xfrm>
        </p:spPr>
        <p:txBody>
          <a:bodyPr/>
          <a:lstStyle/>
          <a:p>
            <a:pPr eaLnBrk="1" hangingPunct="1"/>
            <a:r>
              <a:rPr lang="en-US" sz="4000" dirty="0"/>
              <a:t>Aspects of multiplayer games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3964"/>
            <a:ext cx="7542282" cy="397681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/>
              <a:t>Previous slide (standard minimax analysis) assumes that each player operates to maximize only their own utility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In practice, players make alliances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E.g, C strong, A and B both weak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May be best for A and B to attack C rather than each other</a:t>
            </a:r>
          </a:p>
          <a:p>
            <a:pPr lvl="1"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If game is not zero-sum (i.e., utility(A) = - utility(B) then alliances can be useful even with 2 players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e.g., both cooperate to maximum the sum of the utilities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8CFEAE-9429-F5DD-96BC-E221C694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641413"/>
          </a:xfrm>
        </p:spPr>
        <p:txBody>
          <a:bodyPr/>
          <a:lstStyle/>
          <a:p>
            <a:pPr algn="ctr"/>
            <a:r>
              <a:rPr lang="en-IN" b="1" dirty="0"/>
              <a:t>QUIZ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57F58AD-1DC9-1CAB-A016-C6C7CDBFCA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Adversarial search problems involve: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A single agent and passive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Multiple cooperating agents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Agents with conflicting goals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Random environments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Agents with conflicting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minimax algorithm is used 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Optimization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Probabilistic reasoning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Adversarial games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Planning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Adversarial games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minimax algorithm, the MAX player aims to: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Minimize the minimum loss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Maximize the maximum gain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Maximize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Minimize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Maximize the utility value</a:t>
            </a:r>
          </a:p>
        </p:txBody>
      </p:sp>
    </p:spTree>
    <p:extLst>
      <p:ext uri="{BB962C8B-B14F-4D97-AF65-F5344CB8AC3E}">
        <p14:creationId xmlns:p14="http://schemas.microsoft.com/office/powerpoint/2010/main" val="2385655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9F0C71-DF37-B1C9-F1EB-F55AE625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5C736B4-458C-1FF9-52FA-A525AE926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not a property of the minimax algorithm?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Complete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Optimal against an optimal opponent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Requires less memory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Works only for deterministic games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Requires less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Alpha-beta pruning is used to: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Improve accuracy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Reduce the number of nodes evaluated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Increase the depth of the game tree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Store more heuristics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b) Reduce the number of nodes evaluated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alpha and beta values in alpha-beta pruning?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Lower and upper bounds for possible solutions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Probability values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Cost functions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Heuristic scores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a) Lower and upper bounds for possible solutions</a:t>
            </a:r>
          </a:p>
        </p:txBody>
      </p:sp>
    </p:spTree>
    <p:extLst>
      <p:ext uri="{BB962C8B-B14F-4D97-AF65-F5344CB8AC3E}">
        <p14:creationId xmlns:p14="http://schemas.microsoft.com/office/powerpoint/2010/main" val="3377678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E159D6-2122-0F64-F858-DD9FBF5A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45" y="685800"/>
            <a:ext cx="8228437" cy="6096000"/>
          </a:xfrm>
        </p:spPr>
        <p:txBody>
          <a:bodyPr>
            <a:normAutofit/>
          </a:bodyPr>
          <a:lstStyle/>
          <a:p>
            <a:r>
              <a:rPr lang="en-US" sz="1400" b="1" dirty="0"/>
              <a:t>In alpha-beta pruning, if beta ≤ alpha: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a) Prune the remaining branches</a:t>
            </a:r>
            <a:br>
              <a:rPr lang="en-US" sz="1400" dirty="0"/>
            </a:br>
            <a:r>
              <a:rPr lang="en-US" sz="1400" dirty="0"/>
              <a:t>b) Explore deeper nodes</a:t>
            </a:r>
            <a:br>
              <a:rPr lang="en-US" sz="1400" dirty="0"/>
            </a:br>
            <a:r>
              <a:rPr lang="en-US" sz="1400" dirty="0"/>
              <a:t>c) Increase alpha</a:t>
            </a:r>
            <a:br>
              <a:rPr lang="en-US" sz="1400" dirty="0"/>
            </a:br>
            <a:r>
              <a:rPr lang="en-US" sz="1400" dirty="0"/>
              <a:t>d) Continue evaluating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a) Prune the remaining branches</a:t>
            </a:r>
          </a:p>
          <a:p>
            <a:r>
              <a:rPr lang="en-US" sz="1400" b="1" dirty="0"/>
              <a:t>What is the time complexity of minimax algorithm in a game tree of depth </a:t>
            </a:r>
            <a:r>
              <a:rPr lang="en-US" sz="1400" b="1" i="1" dirty="0"/>
              <a:t>m</a:t>
            </a:r>
            <a:r>
              <a:rPr lang="en-US" sz="1400" b="1" dirty="0"/>
              <a:t> and branching factor </a:t>
            </a:r>
            <a:r>
              <a:rPr lang="en-US" sz="1400" b="1" i="1" dirty="0"/>
              <a:t>b</a:t>
            </a:r>
            <a:r>
              <a:rPr lang="en-US" sz="1400" b="1" dirty="0"/>
              <a:t>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a) O(b + m)</a:t>
            </a:r>
            <a:br>
              <a:rPr lang="en-US" sz="1400" dirty="0"/>
            </a:br>
            <a:r>
              <a:rPr lang="en-US" sz="1400" dirty="0"/>
              <a:t>b) O(m²)</a:t>
            </a:r>
            <a:br>
              <a:rPr lang="en-US" sz="1400" dirty="0"/>
            </a:br>
            <a:r>
              <a:rPr lang="en-US" sz="1400" dirty="0"/>
              <a:t>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d) O(</a:t>
            </a:r>
            <a:r>
              <a:rPr lang="en-US" sz="1400" dirty="0" err="1"/>
              <a:t>m^b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</a:p>
          <a:p>
            <a:r>
              <a:rPr lang="en-US" sz="1400" b="1" dirty="0"/>
              <a:t>Which of the following will improve alpha-beta pruning performance the most?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a) Evaluating nodes randomly</a:t>
            </a:r>
            <a:br>
              <a:rPr lang="en-US" sz="1400" dirty="0"/>
            </a:br>
            <a:r>
              <a:rPr lang="en-US" sz="1400" dirty="0"/>
              <a:t>b) Expanding the least promising node first</a:t>
            </a:r>
            <a:br>
              <a:rPr lang="en-US" sz="1400" dirty="0"/>
            </a:br>
            <a:r>
              <a:rPr lang="en-US" sz="1400" dirty="0"/>
              <a:t>c) Ordering moves to examine the best ones first</a:t>
            </a:r>
            <a:br>
              <a:rPr lang="en-US" sz="1400" dirty="0"/>
            </a:br>
            <a:r>
              <a:rPr lang="en-US" sz="1400" dirty="0"/>
              <a:t>d) Increasing depth of tree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Ordering moves to examine the best ones first</a:t>
            </a:r>
          </a:p>
          <a:p>
            <a:r>
              <a:rPr lang="en-US" sz="1400" b="1" dirty="0"/>
              <a:t>Which games are suitable for adversarial search algorithms like minimax?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a) Single-agent pathfinding</a:t>
            </a:r>
            <a:br>
              <a:rPr lang="en-US" sz="1400" dirty="0"/>
            </a:br>
            <a:r>
              <a:rPr lang="en-US" sz="1400" dirty="0"/>
              <a:t>b) Deterministic turn-based two-player games</a:t>
            </a:r>
            <a:br>
              <a:rPr lang="en-US" sz="1400" dirty="0"/>
            </a:br>
            <a:r>
              <a:rPr lang="en-US" sz="1400" dirty="0"/>
              <a:t>c) Probabilistic board games</a:t>
            </a:r>
            <a:br>
              <a:rPr lang="en-US" sz="1400" dirty="0"/>
            </a:br>
            <a:r>
              <a:rPr lang="en-US" sz="1400" dirty="0"/>
              <a:t>d) Optimization scheduling problems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b) Deterministic turn-based two-player games</a:t>
            </a:r>
          </a:p>
          <a:p>
            <a:pPr marL="97961" indent="0"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10462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xmlns="" id="{78445F02-A161-533C-83C3-5BC21C2F7F4B}"/>
              </a:ext>
            </a:extLst>
          </p:cNvPr>
          <p:cNvGrpSpPr/>
          <p:nvPr/>
        </p:nvGrpSpPr>
        <p:grpSpPr>
          <a:xfrm>
            <a:off x="748145" y="107542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xmlns="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xmlns="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 and R</a:t>
              </a: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 Books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xmlns="" id="{E730872A-040D-2549-AF98-86A7A4840E43}"/>
              </a:ext>
            </a:extLst>
          </p:cNvPr>
          <p:cNvSpPr txBox="1"/>
          <p:nvPr/>
        </p:nvSpPr>
        <p:spPr>
          <a:xfrm>
            <a:off x="83128" y="1958638"/>
            <a:ext cx="8942119" cy="266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TEXT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T1.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Stuart Russell and Peter Norvig,” Artificial Intelligence: A Modern Approach”, 4th Edition.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T2.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Kevin Murphy, “Machine Learning: A Probabilistic Perspective”, 2nd Edition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REFERENCE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R1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John D. Kelleher, Brian Mac Namee, and Aoife D'Arcy, “Fundamentals of Machine Learning for Predictive Data Analytics”, 2nd Edition.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buNone/>
            </a:pP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R2 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Christoph Molnar, “Interpretable Machine Learning”, 2nd </a:t>
            </a:r>
            <a:r>
              <a:rPr lang="en-US" kern="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Edition.G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xmlns="" id="{11F095B4-BE95-F6C7-73C0-ED3F8AB0372C}"/>
              </a:ext>
            </a:extLst>
          </p:cNvPr>
          <p:cNvSpPr txBox="1"/>
          <p:nvPr/>
        </p:nvSpPr>
        <p:spPr>
          <a:xfrm>
            <a:off x="385501" y="302741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</TotalTime>
  <Words>1184</Words>
  <Application>Microsoft Office PowerPoint</Application>
  <PresentationFormat>On-screen Show (4:3)</PresentationFormat>
  <Paragraphs>241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ＭＳ Ｐゴシック</vt:lpstr>
      <vt:lpstr>Arial</vt:lpstr>
      <vt:lpstr>Arial Black</vt:lpstr>
      <vt:lpstr>Calibri</vt:lpstr>
      <vt:lpstr>Cambria</vt:lpstr>
      <vt:lpstr>DejaVu Sans</vt:lpstr>
      <vt:lpstr>Georgia</vt:lpstr>
      <vt:lpstr>Mangal</vt:lpstr>
      <vt:lpstr>MS Shell Dlg</vt:lpstr>
      <vt:lpstr>Symbol</vt:lpstr>
      <vt:lpstr>Times New Roman</vt:lpstr>
      <vt:lpstr>Verdana</vt:lpstr>
      <vt:lpstr>Vladimir Script</vt:lpstr>
      <vt:lpstr>Wingdings</vt:lpstr>
      <vt:lpstr>1_Office Theme</vt:lpstr>
      <vt:lpstr>PowerPoint Presentation</vt:lpstr>
      <vt:lpstr>PowerPoint Presentation</vt:lpstr>
      <vt:lpstr>Adversarial Search and Game-Playing</vt:lpstr>
      <vt:lpstr>Environment Type</vt:lpstr>
      <vt:lpstr>Adversarial Search</vt:lpstr>
      <vt:lpstr>Typical AI assumptions</vt:lpstr>
      <vt:lpstr>Search versus Games</vt:lpstr>
      <vt:lpstr>Types of Games</vt:lpstr>
      <vt:lpstr>Game Setup</vt:lpstr>
      <vt:lpstr>Size of search trees</vt:lpstr>
      <vt:lpstr>Partial Game Tree for Tic-Tac-Toe</vt:lpstr>
      <vt:lpstr>Game tree (2-player, deterministic, turns)</vt:lpstr>
      <vt:lpstr>Minimax strategy: Look ahead and reason backwards</vt:lpstr>
      <vt:lpstr>Two-Ply Game Tree</vt:lpstr>
      <vt:lpstr>Two-Ply Game Tree</vt:lpstr>
      <vt:lpstr>Two-Ply Game Tree</vt:lpstr>
      <vt:lpstr>Two-Ply Game Tree</vt:lpstr>
      <vt:lpstr>What if MIN does not play optimally?</vt:lpstr>
      <vt:lpstr>Pseudocode for Minimax Algorithm</vt:lpstr>
      <vt:lpstr>Example of Algorithm Execution</vt:lpstr>
      <vt:lpstr>Minimax Algorithm</vt:lpstr>
      <vt:lpstr>Multiplayer games</vt:lpstr>
      <vt:lpstr>Example</vt:lpstr>
      <vt:lpstr>Aspects of multiplayer games</vt:lpstr>
      <vt:lpstr>QUIZ</vt:lpstr>
      <vt:lpstr>PowerPoint Presentation</vt:lpstr>
      <vt:lpstr>PowerPoint Presentation</vt:lpstr>
      <vt:lpstr>PowerPoint Presentation</vt:lpstr>
      <vt:lpstr>PowerPoint Presentation</vt:lpstr>
    </vt:vector>
  </TitlesOfParts>
  <Company>Simon Fraser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 and Game-Playing</dc:title>
  <dc:creator>aaa78</dc:creator>
  <cp:lastModifiedBy>Dell</cp:lastModifiedBy>
  <cp:revision>79</cp:revision>
  <dcterms:created xsi:type="dcterms:W3CDTF">2011-06-27T06:09:23Z</dcterms:created>
  <dcterms:modified xsi:type="dcterms:W3CDTF">2025-11-23T10:09:20Z</dcterms:modified>
</cp:coreProperties>
</file>