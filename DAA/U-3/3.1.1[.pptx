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68" r:id="rId2"/>
  </p:sldMasterIdLst>
  <p:notesMasterIdLst>
    <p:notesMasterId r:id="rId14"/>
  </p:notesMasterIdLst>
  <p:sldIdLst>
    <p:sldId id="426" r:id="rId3"/>
    <p:sldId id="389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25" r:id="rId12"/>
    <p:sldId id="408" r:id="rId13"/>
  </p:sldIdLst>
  <p:sldSz cx="12192000" cy="6858000"/>
  <p:notesSz cx="6858000" cy="9144000"/>
  <p:custDataLst>
    <p:tags r:id="rId1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5FB"/>
    <a:srgbClr val="08BBC4"/>
    <a:srgbClr val="0D8BC3"/>
    <a:srgbClr val="2ED9FA"/>
    <a:srgbClr val="0BDEE3"/>
    <a:srgbClr val="07D3D3"/>
    <a:srgbClr val="07DDF3"/>
    <a:srgbClr val="57ACF3"/>
    <a:srgbClr val="3399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56" autoAdjust="0"/>
    <p:restoredTop sz="94660"/>
  </p:normalViewPr>
  <p:slideViewPr>
    <p:cSldViewPr snapToGrid="0">
      <p:cViewPr varScale="1">
        <p:scale>
          <a:sx n="82" d="100"/>
          <a:sy n="82" d="100"/>
        </p:scale>
        <p:origin x="509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8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876" y="115888"/>
            <a:ext cx="8501448" cy="987982"/>
          </a:xfrm>
          <a:ln w="9525"/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81692"/>
            <a:ext cx="9144000" cy="1655762"/>
          </a:xfrm>
          <a:ln w="12700"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3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 smtClean="0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922339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958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9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4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5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3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8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9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12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976" y="298268"/>
            <a:ext cx="6508845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0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552" y="284820"/>
            <a:ext cx="6508845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6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/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50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755" y="365504"/>
            <a:ext cx="6508845" cy="1026947"/>
          </a:xfrm>
          <a:ln w="9525">
            <a:solidFill>
              <a:schemeClr val="tx1"/>
            </a:solidFill>
          </a:ln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66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0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</p:spPr>
        <p:txBody>
          <a:bodyPr/>
          <a:lstStyle/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1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07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52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04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3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447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018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081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87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4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539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338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022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317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7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923928" y="134944"/>
            <a:ext cx="8391525" cy="904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9451" y="1311275"/>
            <a:ext cx="10515600" cy="4351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0" name="Picture 2" descr="Image result for chandigarh university logo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9" y="104775"/>
            <a:ext cx="606425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-2753939" y="293688"/>
            <a:ext cx="5146676" cy="5853112"/>
          </a:xfrm>
          <a:prstGeom prst="rtTriangle">
            <a:avLst/>
          </a:prstGeom>
          <a:solidFill>
            <a:schemeClr val="bg1">
              <a:lumMod val="85000"/>
              <a:alpha val="26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800" kern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1668129" y="5108575"/>
            <a:ext cx="409575" cy="1612900"/>
            <a:chOff x="83821" y="0"/>
            <a:chExt cx="219636" cy="903079"/>
          </a:xfrm>
        </p:grpSpPr>
        <p:sp>
          <p:nvSpPr>
            <p:cNvPr id="10" name="Rectangle 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graphicFrame>
          <p:nvGraphicFramePr>
            <p:cNvPr id="1040" name="Object 1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1" imgW="2169000" imgH="2169360" progId="">
                    <p:embed/>
                  </p:oleObj>
                </mc:Choice>
                <mc:Fallback>
                  <p:oleObj name="CorelDRAW" r:id="rId21" imgW="2169000" imgH="2169360" progId="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 rot="10800000">
            <a:off x="3" y="6251581"/>
            <a:ext cx="731839" cy="606425"/>
            <a:chOff x="5401469" y="1588"/>
            <a:chExt cx="1389063" cy="540239"/>
          </a:xfrm>
        </p:grpSpPr>
        <p:sp>
          <p:nvSpPr>
            <p:cNvPr id="1035" name="Freeform 5"/>
            <p:cNvSpPr>
              <a:spLocks/>
            </p:cNvSpPr>
            <p:nvPr/>
          </p:nvSpPr>
          <p:spPr bwMode="auto">
            <a:xfrm>
              <a:off x="5401469" y="1588"/>
              <a:ext cx="1205279" cy="540239"/>
            </a:xfrm>
            <a:custGeom>
              <a:avLst/>
              <a:gdLst>
                <a:gd name="T0" fmla="*/ 0 w 1410"/>
                <a:gd name="T1" fmla="*/ 0 h 632"/>
                <a:gd name="T2" fmla="*/ 2147483646 w 1410"/>
                <a:gd name="T3" fmla="*/ 2147483646 h 632"/>
                <a:gd name="T4" fmla="*/ 2147483646 w 1410"/>
                <a:gd name="T5" fmla="*/ 2147483646 h 632"/>
                <a:gd name="T6" fmla="*/ 2147483646 w 1410"/>
                <a:gd name="T7" fmla="*/ 0 h 632"/>
                <a:gd name="T8" fmla="*/ 0 w 1410"/>
                <a:gd name="T9" fmla="*/ 0 h 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0" h="632">
                  <a:moveTo>
                    <a:pt x="0" y="0"/>
                  </a:moveTo>
                  <a:lnTo>
                    <a:pt x="630" y="632"/>
                  </a:lnTo>
                  <a:lnTo>
                    <a:pt x="1410" y="632"/>
                  </a:lnTo>
                  <a:lnTo>
                    <a:pt x="78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C344C"/>
                </a:gs>
                <a:gs pos="100000">
                  <a:srgbClr val="D80F7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1800"/>
            </a:p>
          </p:txBody>
        </p:sp>
        <p:sp>
          <p:nvSpPr>
            <p:cNvPr id="1036" name="Freeform 6"/>
            <p:cNvSpPr>
              <a:spLocks/>
            </p:cNvSpPr>
            <p:nvPr/>
          </p:nvSpPr>
          <p:spPr bwMode="auto">
            <a:xfrm>
              <a:off x="6252003" y="1588"/>
              <a:ext cx="538529" cy="426549"/>
            </a:xfrm>
            <a:custGeom>
              <a:avLst/>
              <a:gdLst>
                <a:gd name="T0" fmla="*/ 0 w 630"/>
                <a:gd name="T1" fmla="*/ 0 h 499"/>
                <a:gd name="T2" fmla="*/ 2147483646 w 630"/>
                <a:gd name="T3" fmla="*/ 2147483646 h 499"/>
                <a:gd name="T4" fmla="*/ 2147483646 w 630"/>
                <a:gd name="T5" fmla="*/ 2147483646 h 499"/>
                <a:gd name="T6" fmla="*/ 2147483646 w 630"/>
                <a:gd name="T7" fmla="*/ 0 h 499"/>
                <a:gd name="T8" fmla="*/ 0 w 630"/>
                <a:gd name="T9" fmla="*/ 0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499">
                  <a:moveTo>
                    <a:pt x="0" y="0"/>
                  </a:moveTo>
                  <a:lnTo>
                    <a:pt x="498" y="499"/>
                  </a:lnTo>
                  <a:lnTo>
                    <a:pt x="630" y="499"/>
                  </a:lnTo>
                  <a:lnTo>
                    <a:pt x="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 sz="1800"/>
            </a:p>
          </p:txBody>
        </p:sp>
      </p:grpSp>
      <p:pic>
        <p:nvPicPr>
          <p:cNvPr id="16" name="Picture 2" descr="C:\Users\OM\Downloads\naac-sticker.png">
            <a:extLst>
              <a:ext uri="{FF2B5EF4-FFF2-40B4-BE49-F238E27FC236}">
                <a16:creationId xmlns:a16="http://schemas.microsoft.com/office/drawing/2014/main" id="{D7427353-50B9-40E6-8D87-DD3C5C9CF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/>
          <a:srcRect b="23807"/>
          <a:stretch>
            <a:fillRect/>
          </a:stretch>
        </p:blipFill>
        <p:spPr bwMode="auto">
          <a:xfrm>
            <a:off x="9558792" y="231100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73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49" r:id="rId18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04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9195" y="1268779"/>
            <a:ext cx="10951200" cy="427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US" sz="2400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lang="en-US" sz="2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US" sz="2400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MASTER OF COMPUTER APPLICATIONS</a:t>
            </a:r>
            <a:endParaRPr lang="en-US" sz="2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US" sz="2400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DESIGN AND ANALYSIS OF ALGORITHMS</a:t>
            </a:r>
            <a:endParaRPr lang="en-US" sz="2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US" sz="2400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25 CAT 611</a:t>
            </a:r>
            <a:endParaRPr lang="en-US" sz="2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 No.  3                    </a:t>
            </a:r>
          </a:p>
          <a:p>
            <a:pPr algn="ctr"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Chapter No.  3.1.1                  </a:t>
            </a: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Topic : </a:t>
            </a:r>
            <a:r>
              <a:rPr lang="en-US" sz="2400" b="1" u="sng" dirty="0">
                <a:solidFill>
                  <a:schemeClr val="bg2"/>
                </a:solidFill>
              </a:rPr>
              <a:t>Multi-Stage Graph</a:t>
            </a:r>
            <a:endParaRPr lang="en-US" sz="2400" b="1" kern="0" dirty="0">
              <a:solidFill>
                <a:schemeClr val="bg2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 and </a:t>
            </a:r>
            <a:r>
              <a:rPr lang="en-US" sz="2400" b="1" kern="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E_Code</a:t>
            </a: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Dr. Sameera(17674)                 Designation: Asst. Professor</a:t>
            </a:r>
            <a:endParaRPr lang="en-US" sz="2400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400" b="1" kern="0" dirty="0">
                <a:solidFill>
                  <a:srgbClr val="FFFFFF">
                    <a:lumMod val="65000"/>
                  </a:srgbClr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133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608" y="1248212"/>
            <a:ext cx="11223516" cy="490033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 dirty="0"/>
              <a:t>• A </a:t>
            </a:r>
            <a:r>
              <a:rPr lang="en-US" sz="2400" b="1" dirty="0"/>
              <a:t>Multistage graph </a:t>
            </a:r>
            <a:r>
              <a:rPr lang="en-US" sz="2400" dirty="0"/>
              <a:t>is a directed graph. </a:t>
            </a:r>
          </a:p>
          <a:p>
            <a:r>
              <a:rPr lang="en-US" sz="2400" dirty="0"/>
              <a:t>• The nodes can be divided into a set of stages. </a:t>
            </a:r>
          </a:p>
          <a:p>
            <a:r>
              <a:rPr lang="en-US" sz="2400" dirty="0"/>
              <a:t>• All edges from a stage to next stage . </a:t>
            </a:r>
          </a:p>
          <a:p>
            <a:r>
              <a:rPr lang="en-US" sz="2400" dirty="0"/>
              <a:t>• There is no edge between vertices of same stage . </a:t>
            </a:r>
          </a:p>
          <a:p>
            <a:r>
              <a:rPr lang="en-US" sz="2400" dirty="0"/>
              <a:t>• A vertex of current stage to previous stage </a:t>
            </a:r>
          </a:p>
          <a:p>
            <a:r>
              <a:rPr lang="en-US" sz="2400" dirty="0"/>
              <a:t>• A multistage graph, a source and a destination, we </a:t>
            </a:r>
          </a:p>
          <a:p>
            <a:r>
              <a:rPr lang="en-US" sz="2400" dirty="0"/>
              <a:t>need to find shortest path from source to destination.</a:t>
            </a:r>
          </a:p>
          <a:p>
            <a:pPr fontAlgn="base">
              <a:buNone/>
            </a:pPr>
            <a:endParaRPr lang="en-US" sz="2400" dirty="0"/>
          </a:p>
          <a:p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4938"/>
            <a:ext cx="8729663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fontAlgn="base"/>
            <a:r>
              <a:rPr lang="en-IN" sz="3200" b="1" u="sng" dirty="0"/>
              <a:t>Multi-Stage Graph</a:t>
            </a:r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46D48-5351-1800-3B43-CD06AFBEF698}"/>
              </a:ext>
            </a:extLst>
          </p:cNvPr>
          <p:cNvSpPr txBox="1"/>
          <p:nvPr/>
        </p:nvSpPr>
        <p:spPr>
          <a:xfrm>
            <a:off x="9557657" y="0"/>
            <a:ext cx="2634343" cy="9470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C7880-A9B7-CA47-108E-AEBD72A9B884}"/>
              </a:ext>
            </a:extLst>
          </p:cNvPr>
          <p:cNvSpPr txBox="1"/>
          <p:nvPr/>
        </p:nvSpPr>
        <p:spPr>
          <a:xfrm>
            <a:off x="0" y="6248400"/>
            <a:ext cx="718457" cy="609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038" y="1649653"/>
            <a:ext cx="7328079" cy="4415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4938"/>
            <a:ext cx="8729663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Multistage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910B9-09B9-EC2B-197A-A1D7BE31CEBA}"/>
              </a:ext>
            </a:extLst>
          </p:cNvPr>
          <p:cNvSpPr txBox="1"/>
          <p:nvPr/>
        </p:nvSpPr>
        <p:spPr>
          <a:xfrm>
            <a:off x="9448800" y="0"/>
            <a:ext cx="2743200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08493-4CAB-326B-5FFD-104C2A1442B8}"/>
              </a:ext>
            </a:extLst>
          </p:cNvPr>
          <p:cNvSpPr txBox="1"/>
          <p:nvPr/>
        </p:nvSpPr>
        <p:spPr>
          <a:xfrm>
            <a:off x="0" y="6161314"/>
            <a:ext cx="762000" cy="6966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: </a:t>
            </a:r>
            <a:r>
              <a:rPr lang="en-US" sz="2800" dirty="0"/>
              <a:t>The </a:t>
            </a:r>
            <a:r>
              <a:rPr lang="en-US" sz="2800" b="1" dirty="0"/>
              <a:t>Brute force </a:t>
            </a:r>
            <a:r>
              <a:rPr lang="en-US" sz="2800" dirty="0"/>
              <a:t>method of finding all possible </a:t>
            </a:r>
          </a:p>
          <a:p>
            <a:r>
              <a:rPr lang="en-US" sz="2800" dirty="0"/>
              <a:t>paths between Source and Destination. </a:t>
            </a:r>
          </a:p>
          <a:p>
            <a:r>
              <a:rPr lang="en-US" sz="2800" dirty="0"/>
              <a:t>• </a:t>
            </a:r>
            <a:r>
              <a:rPr lang="en-US" sz="2800" b="1" dirty="0" err="1"/>
              <a:t>Dijkstra’s</a:t>
            </a:r>
            <a:r>
              <a:rPr lang="en-US" sz="2800" b="1" dirty="0"/>
              <a:t> Algorithm </a:t>
            </a:r>
            <a:r>
              <a:rPr lang="en-US" sz="2800" dirty="0"/>
              <a:t>has a Single Source shortest </a:t>
            </a:r>
          </a:p>
          <a:p>
            <a:r>
              <a:rPr lang="en-US" sz="2800" dirty="0"/>
              <a:t>paths. </a:t>
            </a:r>
          </a:p>
          <a:p>
            <a:r>
              <a:rPr lang="en-US" sz="2800" dirty="0"/>
              <a:t>• This method will find shortest paths from source </a:t>
            </a:r>
          </a:p>
          <a:p>
            <a:r>
              <a:rPr lang="en-US" sz="2800" dirty="0"/>
              <a:t>to all other nodes which is not required. </a:t>
            </a:r>
          </a:p>
          <a:p>
            <a:r>
              <a:rPr lang="en-US" sz="2800" dirty="0"/>
              <a:t>• It will take a lot of time and it doesn’t even use the </a:t>
            </a:r>
          </a:p>
          <a:p>
            <a:r>
              <a:rPr lang="en-US" sz="2800" dirty="0"/>
              <a:t>SPECIAL feature that this MULTI-STAGE graph.</a:t>
            </a:r>
            <a:br>
              <a:rPr lang="en-IN" sz="2800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066680" y="241100"/>
            <a:ext cx="583413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dirty="0"/>
              <a:t>VARIOUS STRATEGIES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DE0BB-44E8-DD00-DE4C-3CBE4DD31DF6}"/>
              </a:ext>
            </a:extLst>
          </p:cNvPr>
          <p:cNvSpPr txBox="1"/>
          <p:nvPr/>
        </p:nvSpPr>
        <p:spPr>
          <a:xfrm>
            <a:off x="9448800" y="0"/>
            <a:ext cx="2743200" cy="9489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0D437-8AF6-9ED0-E459-0005FDB328C2}"/>
              </a:ext>
            </a:extLst>
          </p:cNvPr>
          <p:cNvSpPr txBox="1"/>
          <p:nvPr/>
        </p:nvSpPr>
        <p:spPr>
          <a:xfrm>
            <a:off x="0" y="6183086"/>
            <a:ext cx="849086" cy="6749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7129" y="134938"/>
            <a:ext cx="7492534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600" b="1" dirty="0"/>
              <a:t>Simple Greedy Method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3" name="Rectangle 2"/>
          <p:cNvSpPr/>
          <p:nvPr/>
        </p:nvSpPr>
        <p:spPr>
          <a:xfrm>
            <a:off x="811368" y="1440880"/>
            <a:ext cx="83326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At each node, choose the shortest outgoing path. </a:t>
            </a:r>
          </a:p>
          <a:p>
            <a:r>
              <a:rPr lang="en-US" sz="2800" dirty="0"/>
              <a:t>• we apply this approach to the example graph give </a:t>
            </a:r>
          </a:p>
          <a:p>
            <a:r>
              <a:rPr lang="en-US" sz="2800" dirty="0"/>
              <a:t>above we get the solution as 1 + 4 + 18 = 23. </a:t>
            </a:r>
          </a:p>
          <a:p>
            <a:r>
              <a:rPr lang="en-US" sz="2800" dirty="0"/>
              <a:t>• But a quick look at the graph will show much </a:t>
            </a:r>
          </a:p>
          <a:p>
            <a:r>
              <a:rPr lang="en-US" sz="2800" dirty="0"/>
              <a:t>shorter paths available than 23. So the greedy </a:t>
            </a:r>
          </a:p>
          <a:p>
            <a:r>
              <a:rPr lang="en-US" sz="2800" dirty="0"/>
              <a:t>method fails. </a:t>
            </a:r>
          </a:p>
          <a:p>
            <a:r>
              <a:rPr lang="en-US" sz="2800" dirty="0"/>
              <a:t>• The best option is Dynamic Programming. </a:t>
            </a:r>
          </a:p>
          <a:p>
            <a:r>
              <a:rPr lang="en-US" sz="2800" dirty="0"/>
              <a:t>• To find </a:t>
            </a:r>
            <a:r>
              <a:rPr lang="en-US" sz="2800" b="1" dirty="0"/>
              <a:t>Optimal Sub-structure, Recursive </a:t>
            </a:r>
            <a:endParaRPr lang="en-US" sz="2800" dirty="0"/>
          </a:p>
          <a:p>
            <a:r>
              <a:rPr lang="en-US" sz="2800" b="1" dirty="0"/>
              <a:t>Equations and Overlapping Sub-problems</a:t>
            </a:r>
            <a:r>
              <a:rPr lang="en-US" b="1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F7C74-B24A-4F3D-D242-76DAC6FE4609}"/>
              </a:ext>
            </a:extLst>
          </p:cNvPr>
          <p:cNvSpPr txBox="1"/>
          <p:nvPr/>
        </p:nvSpPr>
        <p:spPr>
          <a:xfrm>
            <a:off x="9448800" y="0"/>
            <a:ext cx="2743200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9B2680-31EF-0ED4-09AF-3D533E1472A1}"/>
              </a:ext>
            </a:extLst>
          </p:cNvPr>
          <p:cNvSpPr txBox="1"/>
          <p:nvPr/>
        </p:nvSpPr>
        <p:spPr>
          <a:xfrm>
            <a:off x="0" y="6150429"/>
            <a:ext cx="811368" cy="7075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0612" y="134938"/>
            <a:ext cx="7869051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3200" dirty="0"/>
              <a:t>BASIC TRAVERSAL AND SEARCH TECHNIQUES</a:t>
            </a: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9" name="Rectangle 8"/>
          <p:cNvSpPr/>
          <p:nvPr/>
        </p:nvSpPr>
        <p:spPr>
          <a:xfrm>
            <a:off x="759852" y="1167254"/>
            <a:ext cx="8564451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• Traversal of a binary tree involves examining </a:t>
            </a:r>
          </a:p>
          <a:p>
            <a:r>
              <a:rPr lang="en-US" sz="2400" dirty="0"/>
              <a:t>every node in the tree. </a:t>
            </a:r>
          </a:p>
          <a:p>
            <a:r>
              <a:rPr lang="en-US" sz="2400" dirty="0"/>
              <a:t>• Search involves visiting nodes in a graph in a </a:t>
            </a:r>
          </a:p>
          <a:p>
            <a:r>
              <a:rPr lang="en-US" sz="2400" dirty="0"/>
              <a:t>systematic manner, and may or may not result into </a:t>
            </a:r>
          </a:p>
          <a:p>
            <a:r>
              <a:rPr lang="en-US" sz="2400" dirty="0"/>
              <a:t>a visit to all nodes. </a:t>
            </a:r>
          </a:p>
          <a:p>
            <a:r>
              <a:rPr lang="en-US" sz="2400" dirty="0"/>
              <a:t>• Different nodes of a graph may be visited, </a:t>
            </a:r>
          </a:p>
          <a:p>
            <a:r>
              <a:rPr lang="en-US" sz="2400" dirty="0"/>
              <a:t>possibly more than once, during traversal or </a:t>
            </a:r>
          </a:p>
          <a:p>
            <a:r>
              <a:rPr lang="en-US" sz="2400" dirty="0"/>
              <a:t>search. </a:t>
            </a:r>
          </a:p>
          <a:p>
            <a:r>
              <a:rPr lang="en-US" sz="2400" dirty="0"/>
              <a:t>• If search results into a visit to all the vertices, it is </a:t>
            </a:r>
          </a:p>
          <a:p>
            <a:r>
              <a:rPr lang="en-US" sz="2400" dirty="0"/>
              <a:t>called traversal.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1C0E4-B728-B6FB-9582-5A8E141B1EFA}"/>
              </a:ext>
            </a:extLst>
          </p:cNvPr>
          <p:cNvSpPr txBox="1"/>
          <p:nvPr/>
        </p:nvSpPr>
        <p:spPr>
          <a:xfrm>
            <a:off x="9448800" y="0"/>
            <a:ext cx="2743200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51DB6-E9C5-85E0-5BDF-2817795F85F7}"/>
              </a:ext>
            </a:extLst>
          </p:cNvPr>
          <p:cNvSpPr txBox="1"/>
          <p:nvPr/>
        </p:nvSpPr>
        <p:spPr>
          <a:xfrm>
            <a:off x="0" y="6166624"/>
            <a:ext cx="860612" cy="69137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824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Determine a vertex or a subset of vertices that satisfy a </a:t>
            </a:r>
            <a:r>
              <a:rPr lang="en-US" sz="2800" dirty="0" err="1"/>
              <a:t>specifified</a:t>
            </a:r>
            <a:r>
              <a:rPr lang="en-US" sz="2800" dirty="0"/>
              <a:t> property . </a:t>
            </a:r>
          </a:p>
          <a:p>
            <a:r>
              <a:rPr lang="en-US" sz="2800" b="1" dirty="0"/>
              <a:t>Possible problem: </a:t>
            </a:r>
            <a:endParaRPr lang="en-US" sz="2800" dirty="0"/>
          </a:p>
          <a:p>
            <a:pPr lvl="1">
              <a:buFont typeface="Wingdings" pitchFamily="2" charset="2"/>
              <a:buChar char="v"/>
            </a:pPr>
            <a:r>
              <a:rPr lang="en-US" sz="2800" dirty="0"/>
              <a:t>Find all nodes in a binary tree with data value less than some specified value . </a:t>
            </a:r>
          </a:p>
          <a:p>
            <a:pPr lvl="1">
              <a:buFont typeface="Wingdings" pitchFamily="2" charset="2"/>
              <a:buChar char="v"/>
            </a:pPr>
            <a:r>
              <a:rPr lang="en-US" sz="2800" dirty="0"/>
              <a:t>Solved by systematically examining all the vertices  </a:t>
            </a:r>
          </a:p>
          <a:p>
            <a:pPr lvl="1">
              <a:buFont typeface="Wingdings" pitchFamily="2" charset="2"/>
              <a:buChar char="v"/>
            </a:pPr>
            <a:r>
              <a:rPr lang="en-US" sz="2800" dirty="0"/>
              <a:t>Does searching for a </a:t>
            </a:r>
            <a:r>
              <a:rPr lang="en-US" sz="2800" dirty="0" err="1"/>
              <a:t>specifified</a:t>
            </a:r>
            <a:r>
              <a:rPr lang="en-US" sz="2800" dirty="0"/>
              <a:t> item in a binary search tree result into a traversal.</a:t>
            </a:r>
            <a:endParaRPr lang="en-IN" sz="28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4059" y="134938"/>
            <a:ext cx="7855604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dirty="0"/>
              <a:t>TECHNIQUES FOR BINARY TREES</a:t>
            </a:r>
            <a:endParaRPr lang="en-IN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49F1E-798E-8C99-5331-C99F9CD3CBC7}"/>
              </a:ext>
            </a:extLst>
          </p:cNvPr>
          <p:cNvSpPr txBox="1"/>
          <p:nvPr/>
        </p:nvSpPr>
        <p:spPr>
          <a:xfrm>
            <a:off x="9448800" y="0"/>
            <a:ext cx="2743200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89787-919F-C098-F248-670A29D4D5CF}"/>
              </a:ext>
            </a:extLst>
          </p:cNvPr>
          <p:cNvSpPr txBox="1"/>
          <p:nvPr/>
        </p:nvSpPr>
        <p:spPr>
          <a:xfrm>
            <a:off x="0" y="6150429"/>
            <a:ext cx="874059" cy="7075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0612" y="134938"/>
            <a:ext cx="7869051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600" b="1" dirty="0"/>
              <a:t>TECHNIQUES FOR GRAPHS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3" name="Rectangle 2"/>
          <p:cNvSpPr/>
          <p:nvPr/>
        </p:nvSpPr>
        <p:spPr>
          <a:xfrm>
            <a:off x="858590" y="1138123"/>
            <a:ext cx="9885609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Reachability problem in graph theory. 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• Determine whether a vertex v is reachable from a vertex u in a graph G = (V,E). 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• Whether there exists a path from u to v. 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• A more general form: 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• Given a vertex u ∈ V , find all vertices vi ∈ V such that there is a path from u to vi. 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• Solved by starting at vertex u and systematically searching the graph G for vertices reachable from u. </a:t>
            </a:r>
          </a:p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• Breadth first search and traversal</a:t>
            </a:r>
            <a:endParaRPr lang="en-IN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4423D-0983-02D4-3292-FD64D972036F}"/>
              </a:ext>
            </a:extLst>
          </p:cNvPr>
          <p:cNvSpPr txBox="1"/>
          <p:nvPr/>
        </p:nvSpPr>
        <p:spPr>
          <a:xfrm>
            <a:off x="9448800" y="0"/>
            <a:ext cx="2743200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7873F-87C7-423F-81CC-1F13FCD24868}"/>
              </a:ext>
            </a:extLst>
          </p:cNvPr>
          <p:cNvSpPr txBox="1"/>
          <p:nvPr/>
        </p:nvSpPr>
        <p:spPr>
          <a:xfrm>
            <a:off x="0" y="6193971"/>
            <a:ext cx="858590" cy="6640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74059" y="134938"/>
            <a:ext cx="7855604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200" b="1" dirty="0"/>
              <a:t>TECHNIQUES FOR GRAPHS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3" name="Rectangle 2"/>
          <p:cNvSpPr/>
          <p:nvPr/>
        </p:nvSpPr>
        <p:spPr>
          <a:xfrm>
            <a:off x="833719" y="1305549"/>
            <a:ext cx="8485094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Explore all vertices adjacent from a starting vertex. </a:t>
            </a:r>
          </a:p>
          <a:p>
            <a:pPr algn="just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 vertex is said to be explored when the algorithm has visited all the vertices adjacent from it. </a:t>
            </a:r>
          </a:p>
          <a:p>
            <a:pPr algn="just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As a vertex is reached or visited, it becomes a new unexplored vertex. </a:t>
            </a:r>
          </a:p>
          <a:p>
            <a:pPr algn="just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Explore unexplored vertices that are adjacent to all the explored vertices. </a:t>
            </a:r>
          </a:p>
          <a:p>
            <a:pPr algn="just"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Breadth-first search operates using a queue to maintain the list of unexplored vertices.</a:t>
            </a:r>
            <a:endParaRPr lang="en-IN" sz="20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44128-4507-6145-CB77-FB5F3F34236D}"/>
              </a:ext>
            </a:extLst>
          </p:cNvPr>
          <p:cNvSpPr txBox="1"/>
          <p:nvPr/>
        </p:nvSpPr>
        <p:spPr>
          <a:xfrm>
            <a:off x="9448800" y="0"/>
            <a:ext cx="2743200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6D39D-9B39-2B5C-19AC-6508DD953075}"/>
              </a:ext>
            </a:extLst>
          </p:cNvPr>
          <p:cNvSpPr txBox="1"/>
          <p:nvPr/>
        </p:nvSpPr>
        <p:spPr>
          <a:xfrm>
            <a:off x="0" y="6172200"/>
            <a:ext cx="833719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6814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53366"/>
          </a:xfrm>
        </p:spPr>
        <p:txBody>
          <a:bodyPr anchor="t">
            <a:normAutofit fontScale="90000"/>
          </a:bodyPr>
          <a:lstStyle/>
          <a:p>
            <a:pPr algn="l"/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1)  https://www.tutorialspoint.com/data_structures_algorithms/divide_and_conquer.htm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2)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 Structures and Algorithms made easy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By 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Narasimha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Karumanchi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3)  The Algorithm Design Manual, 2nd Edition by Steven 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Skiena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Fundamentals of Computer Algorithms - Horowitz and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Sahani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/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2" y="192883"/>
            <a:ext cx="869372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571AD-EF65-4378-86D6-3AF0DD73CA0C}"/>
              </a:ext>
            </a:extLst>
          </p:cNvPr>
          <p:cNvSpPr/>
          <p:nvPr/>
        </p:nvSpPr>
        <p:spPr>
          <a:xfrm>
            <a:off x="838200" y="1089891"/>
            <a:ext cx="10515600" cy="50823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55C06-9819-4A06-9C49-58CDAD8CD94B}"/>
              </a:ext>
            </a:extLst>
          </p:cNvPr>
          <p:cNvSpPr/>
          <p:nvPr/>
        </p:nvSpPr>
        <p:spPr>
          <a:xfrm>
            <a:off x="838201" y="136527"/>
            <a:ext cx="8758383" cy="76944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8B716-3EDB-4874-B04B-3AC9D49B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58942-B39E-F341-12A3-C7C97B81A5B3}"/>
              </a:ext>
            </a:extLst>
          </p:cNvPr>
          <p:cNvSpPr txBox="1"/>
          <p:nvPr/>
        </p:nvSpPr>
        <p:spPr>
          <a:xfrm>
            <a:off x="9531929" y="136526"/>
            <a:ext cx="2660071" cy="9533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5078D-C2B9-AC5F-3689-D523F49CA057}"/>
              </a:ext>
            </a:extLst>
          </p:cNvPr>
          <p:cNvSpPr txBox="1"/>
          <p:nvPr/>
        </p:nvSpPr>
        <p:spPr>
          <a:xfrm>
            <a:off x="0" y="6172200"/>
            <a:ext cx="8382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476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9525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4826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356350"/>
            <a:ext cx="27432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11</a:t>
            </a:fld>
            <a:endParaRPr lang="en-I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C4C728-4190-F111-02B9-952085525C3C}"/>
              </a:ext>
            </a:extLst>
          </p:cNvPr>
          <p:cNvSpPr txBox="1"/>
          <p:nvPr/>
        </p:nvSpPr>
        <p:spPr>
          <a:xfrm>
            <a:off x="9347200" y="-76200"/>
            <a:ext cx="2844800" cy="10341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B3538-CE80-4E39-53F8-EC4730991AFD}"/>
              </a:ext>
            </a:extLst>
          </p:cNvPr>
          <p:cNvSpPr txBox="1"/>
          <p:nvPr/>
        </p:nvSpPr>
        <p:spPr>
          <a:xfrm>
            <a:off x="0" y="6150429"/>
            <a:ext cx="733425" cy="7028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20591</TotalTime>
  <Words>684</Words>
  <Application>Microsoft Office PowerPoint</Application>
  <PresentationFormat>Widescreen</PresentationFormat>
  <Paragraphs>92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Casper</vt:lpstr>
      <vt:lpstr>Lato</vt:lpstr>
      <vt:lpstr>Tahoma</vt:lpstr>
      <vt:lpstr>Times New Roman</vt:lpstr>
      <vt:lpstr>Wingdings</vt:lpstr>
      <vt:lpstr>Theme1</vt:lpstr>
      <vt:lpstr>Streamline</vt:lpstr>
      <vt:lpstr>CorelDRAW</vt:lpstr>
      <vt:lpstr>PowerPoint Presentation</vt:lpstr>
      <vt:lpstr>Multi-Stage Graph</vt:lpstr>
      <vt:lpstr>Multistage Graph</vt:lpstr>
      <vt:lpstr>PowerPoint Presentation</vt:lpstr>
      <vt:lpstr>Simple Greedy Method </vt:lpstr>
      <vt:lpstr>BASIC TRAVERSAL AND SEARCH TECHNIQUES</vt:lpstr>
      <vt:lpstr>TECHNIQUES FOR BINARY TREES</vt:lpstr>
      <vt:lpstr>TECHNIQUES FOR GRAPHS</vt:lpstr>
      <vt:lpstr>TECHNIQUES FOR GRAPHS</vt:lpstr>
      <vt:lpstr>     1)  https://www.tutorialspoint.com/data_structures_algorithms/divide_and_conquer.htm  2)  Data Structures and Algorithms made easy By Narasimha Karumanchi.  3)  The Algorithm Design Manual, 2nd Edition by Steven S Skiena  4) Fundamentals of Computer Algorithms - Horowitz and Sahani 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sameera dhuria</cp:lastModifiedBy>
  <cp:revision>980</cp:revision>
  <dcterms:created xsi:type="dcterms:W3CDTF">2019-05-03T13:26:36Z</dcterms:created>
  <dcterms:modified xsi:type="dcterms:W3CDTF">2025-07-03T10:55:12Z</dcterms:modified>
</cp:coreProperties>
</file>