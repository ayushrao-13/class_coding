
<file path=[Content_Types].xml><?xml version="1.0" encoding="utf-8"?>
<Types xmlns="http://schemas.openxmlformats.org/package/2006/content-types">
  <Default Extension="jpg" ContentType="image/jpeg"/>
  <Default Extension="pdf" ContentType="application/pd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96" r:id="rId1"/>
  </p:sldMasterIdLst>
  <p:notesMasterIdLst>
    <p:notesMasterId r:id="rId21"/>
  </p:notesMasterIdLst>
  <p:sldIdLst>
    <p:sldId id="331" r:id="rId2"/>
    <p:sldId id="332" r:id="rId3"/>
    <p:sldId id="315" r:id="rId4"/>
    <p:sldId id="316" r:id="rId5"/>
    <p:sldId id="317" r:id="rId6"/>
    <p:sldId id="322" r:id="rId7"/>
    <p:sldId id="319" r:id="rId8"/>
    <p:sldId id="321" r:id="rId9"/>
    <p:sldId id="320" r:id="rId10"/>
    <p:sldId id="314" r:id="rId11"/>
    <p:sldId id="324" r:id="rId12"/>
    <p:sldId id="323" r:id="rId13"/>
    <p:sldId id="326" r:id="rId14"/>
    <p:sldId id="325" r:id="rId15"/>
    <p:sldId id="327" r:id="rId16"/>
    <p:sldId id="318" r:id="rId17"/>
    <p:sldId id="328" r:id="rId18"/>
    <p:sldId id="329" r:id="rId19"/>
    <p:sldId id="330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35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E99945AA-4EB5-FF45-B438-C186DCDD9F82}" type="datetime1">
              <a:rPr lang="en-US"/>
              <a:pPr/>
              <a:t>6/9/2025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</a:defRPr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charset="0"/>
              </a:defRPr>
            </a:lvl1pPr>
          </a:lstStyle>
          <a:p>
            <a:fld id="{71E87EEF-40E4-CC48-970D-FDFF18882FC8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91" name="Google Shape;91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424521519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CAF8D011-1978-0123-5CB2-07F259488B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1F30FEB0-AB40-4EED-9FDB-BD2BDC5B187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0132642-52DF-B83A-52A1-4C0392323CE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22111950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845EE78-55B3-1E4D-ABCB-CF80ABACC851}" type="slidenum">
              <a:rPr lang="en-US"/>
              <a:pPr/>
              <a:t>3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0488" tIns="44450" rIns="90488" bIns="44450"/>
          <a:lstStyle/>
          <a:p>
            <a:pPr eaLnBrk="1" hangingPunct="1">
              <a:spcBef>
                <a:spcPct val="0"/>
              </a:spcBef>
            </a:pPr>
            <a:r>
              <a:rPr lang="en-US"/>
              <a:t>Add something on retrograde analysis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845EE78-55B3-1E4D-ABCB-CF80ABACC851}" type="slidenum">
              <a:rPr lang="en-US"/>
              <a:pPr/>
              <a:t>4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0488" tIns="44450" rIns="90488" bIns="44450"/>
          <a:lstStyle/>
          <a:p>
            <a:pPr eaLnBrk="1" hangingPunct="1">
              <a:spcBef>
                <a:spcPct val="0"/>
              </a:spcBef>
            </a:pPr>
            <a:r>
              <a:rPr lang="en-US"/>
              <a:t>Add something on retrograde analysis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845EE78-55B3-1E4D-ABCB-CF80ABACC851}" type="slidenum">
              <a:rPr lang="en-US"/>
              <a:pPr/>
              <a:t>5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0488" tIns="44450" rIns="90488" bIns="44450"/>
          <a:lstStyle/>
          <a:p>
            <a:pPr eaLnBrk="1" hangingPunct="1">
              <a:spcBef>
                <a:spcPct val="0"/>
              </a:spcBef>
            </a:pPr>
            <a:r>
              <a:rPr lang="en-US"/>
              <a:t>Add something on retrograde analysis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Arial"/>
              <a:buChar char="•"/>
            </a:pPr>
            <a:endParaRPr lang="en-US" sz="1200" dirty="0"/>
          </a:p>
          <a:p>
            <a:pPr>
              <a:buFont typeface="Arial"/>
              <a:buChar char="•"/>
            </a:pPr>
            <a:r>
              <a:rPr lang="en-US" sz="1200" dirty="0"/>
              <a:t> Suppose that the row player announces their probability. What</a:t>
            </a:r>
            <a:r>
              <a:rPr lang="en-US" sz="1200" baseline="0" dirty="0"/>
              <a:t> is the best one </a:t>
            </a:r>
            <a:r>
              <a:rPr lang="en-US" sz="1200" baseline="0"/>
              <a:t>to use?</a:t>
            </a:r>
            <a:endParaRPr lang="en-US" sz="120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1E87EEF-40E4-CC48-970D-FDFF18882FC8}" type="slidenum">
              <a:rPr lang="en-US" smtClean="0"/>
              <a:pPr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845EE78-55B3-1E4D-ABCB-CF80ABACC851}" type="slidenum">
              <a:rPr lang="en-US"/>
              <a:pPr/>
              <a:t>7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0488" tIns="44450" rIns="90488" bIns="44450"/>
          <a:lstStyle/>
          <a:p>
            <a:pPr eaLnBrk="1" hangingPunct="1">
              <a:spcBef>
                <a:spcPct val="0"/>
              </a:spcBef>
            </a:pPr>
            <a:r>
              <a:rPr lang="en-US"/>
              <a:t>Add something on retrograde analysis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618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845EE78-55B3-1E4D-ABCB-CF80ABACC851}" type="slidenum">
              <a:rPr lang="en-US"/>
              <a:pPr/>
              <a:t>9</a:t>
            </a:fld>
            <a:endParaRPr lang="en-US"/>
          </a:p>
        </p:txBody>
      </p:sp>
      <p:sp>
        <p:nvSpPr>
          <p:cNvPr id="1116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50938" y="692150"/>
            <a:ext cx="4556125" cy="3416300"/>
          </a:xfrm>
          <a:noFill/>
          <a:ln cap="flat">
            <a:solidFill>
              <a:schemeClr val="tx1"/>
            </a:solidFill>
            <a:miter lim="800000"/>
            <a:headEnd/>
            <a:tailEnd/>
          </a:ln>
        </p:spPr>
      </p:sp>
      <p:sp>
        <p:nvSpPr>
          <p:cNvPr id="111620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4343400"/>
            <a:ext cx="5029200" cy="4114800"/>
          </a:xfrm>
          <a:noFill/>
        </p:spPr>
        <p:txBody>
          <a:bodyPr lIns="90488" tIns="44450" rIns="90488" bIns="44450"/>
          <a:lstStyle/>
          <a:p>
            <a:pPr eaLnBrk="1" hangingPunct="1">
              <a:spcBef>
                <a:spcPct val="0"/>
              </a:spcBef>
            </a:pPr>
            <a:r>
              <a:rPr lang="en-US"/>
              <a:t>Add something on retrograde analysis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C4B114F6-B37C-7549-8989-D4DA0F0508C7}" type="slidenum">
              <a:rPr lang="en-CA"/>
              <a:pPr/>
              <a:t>11</a:t>
            </a:fld>
            <a:endParaRPr lang="en-CA"/>
          </a:p>
        </p:txBody>
      </p:sp>
      <p:sp>
        <p:nvSpPr>
          <p:cNvPr id="2048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/>
            <a:r>
              <a:rPr lang="en-US">
                <a:latin typeface="Times New Roman" charset="0"/>
              </a:rPr>
              <a:t>Mention that problem of computing best reply = problem of optimal planning in game with nature.</a:t>
            </a:r>
            <a:endParaRPr lang="en-CA">
              <a:latin typeface="Times New Roman" charset="0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09D8B882-0A42-A997-B7C2-B7E4A790F7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C0D5EBF7-7AF6-6579-8561-57B613E9489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4533F13B-1510-E87D-A49C-D1857BE0DD8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22620071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4">
          <a:extLst>
            <a:ext uri="{FF2B5EF4-FFF2-40B4-BE49-F238E27FC236}">
              <a16:creationId xmlns:a16="http://schemas.microsoft.com/office/drawing/2014/main" id="{38CC7291-0158-2CF9-E3E7-C104BA8763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:notes">
            <a:extLst>
              <a:ext uri="{FF2B5EF4-FFF2-40B4-BE49-F238E27FC236}">
                <a16:creationId xmlns:a16="http://schemas.microsoft.com/office/drawing/2014/main" id="{8B9D57E8-6C07-996D-1CC3-BF44C62ABF1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6" name="Google Shape;106;p2:notes">
            <a:extLst>
              <a:ext uri="{FF2B5EF4-FFF2-40B4-BE49-F238E27FC236}">
                <a16:creationId xmlns:a16="http://schemas.microsoft.com/office/drawing/2014/main" id="{B91E2C0C-79EA-9DB7-B0A8-4CEF2F72D79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0456188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623612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457172" y="1604399"/>
            <a:ext cx="8228763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213624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457172" y="1604399"/>
            <a:ext cx="8228763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22674977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457172" y="1604399"/>
            <a:ext cx="4015600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4673928" y="1604399"/>
            <a:ext cx="4015600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42693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321698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457172" y="273423"/>
            <a:ext cx="8228763" cy="530735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50017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457172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4673928" y="1604399"/>
            <a:ext cx="4015600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457172" y="3681628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7408303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457172" y="1604399"/>
            <a:ext cx="4015600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4673928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4673928" y="3681628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094631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172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3928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172" y="3681628"/>
            <a:ext cx="822876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152891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172" y="1604400"/>
            <a:ext cx="822876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57172" y="3681628"/>
            <a:ext cx="8228763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2648283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457172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4673928" y="1604400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457172" y="3681628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4673928" y="3681628"/>
            <a:ext cx="401560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90127107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172" y="273423"/>
            <a:ext cx="8228763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endParaRPr lang="en-IN" sz="3991" b="0" strike="noStrike" spc="-1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172" y="1604400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3239388" y="1604400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6021278" y="1604400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457172" y="3681628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3239388" y="3681628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6021278" y="3681628"/>
            <a:ext cx="2649310" cy="1896543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endParaRPr lang="en-IN" sz="2903" b="0" strike="noStrike" spc="-1"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3464282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1F17E8-9059-4403-FB6D-9B31E85BB0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11CDA0-383D-79C7-65E6-44EA531C58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FFACE1-34CE-1D89-30DA-0A7D2F179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C78D2E8-BC67-4547-9856-7D9D7BE0482E}" type="datetime1">
              <a:rPr lang="en-IN" smtClean="0"/>
              <a:t>09-06-2025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98BA4F-17B9-909B-5DBB-B047756B8A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1E7A1B-4050-EF22-F5E1-FA77841B7E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9E09F22-E9B2-EA44-BA9B-AE1C427D7D4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91034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609600"/>
            <a:ext cx="7772400" cy="1143000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85800" y="1981200"/>
            <a:ext cx="7772400" cy="4114800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8B14C32-8986-6D4A-9AB7-29449AF0D2F8}" type="datetime1">
              <a:rPr lang="en-IN" smtClean="0"/>
              <a:t>09-06-2025</a:t>
            </a:fld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4FA0BD5-D609-EF4D-B3FF-B53912845918}" type="slidenum">
              <a:rPr lang="en-CA"/>
              <a:pPr/>
              <a:t>‹#›</a:t>
            </a:fld>
            <a:endParaRPr lang="en-CA"/>
          </a:p>
        </p:txBody>
      </p:sp>
    </p:spTree>
    <p:extLst>
      <p:ext uri="{BB962C8B-B14F-4D97-AF65-F5344CB8AC3E}">
        <p14:creationId xmlns:p14="http://schemas.microsoft.com/office/powerpoint/2010/main" val="243656617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userDrawn="1">
  <p:cSld name="1_Title and Content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9"/>
          <p:cNvSpPr txBox="1">
            <a:spLocks noGrp="1"/>
          </p:cNvSpPr>
          <p:nvPr>
            <p:ph type="body" idx="1"/>
          </p:nvPr>
        </p:nvSpPr>
        <p:spPr>
          <a:xfrm>
            <a:off x="914400" y="1752600"/>
            <a:ext cx="8001000" cy="4496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189" marR="0" lvl="0" indent="-38099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mbria"/>
                <a:ea typeface="Cambria"/>
                <a:cs typeface="Cambria"/>
                <a:sym typeface="Cambria"/>
              </a:defRPr>
            </a:lvl1pPr>
            <a:lvl2pPr marL="914378" marR="0" lvl="1" indent="-35559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566" marR="0" lvl="2" indent="-35559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754" marR="0" lvl="3" indent="-342892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5943" marR="0" lvl="4" indent="-342892" algn="l">
              <a:lnSpc>
                <a:spcPct val="115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132" marR="0" lvl="5" indent="-355591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320" marR="0" lvl="6" indent="-35559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509" marR="0" lvl="7" indent="-35559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697" marR="0" lvl="8" indent="-355591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pic>
        <p:nvPicPr>
          <p:cNvPr id="3" name="Picture 2" descr="A red rectangular sign with a logo and a globe&#10;&#10;AI-generated content may be incorrect.">
            <a:extLst>
              <a:ext uri="{FF2B5EF4-FFF2-40B4-BE49-F238E27FC236}">
                <a16:creationId xmlns:a16="http://schemas.microsoft.com/office/drawing/2014/main" id="{E3B45E01-6076-AFEE-F2AB-CE7DAC5DAF0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0907" y="29380"/>
            <a:ext cx="652311" cy="1398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23022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0">
          <a:blip r:embed="rId17"/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456845" y="272987"/>
            <a:ext cx="8228437" cy="1144631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algn="ctr">
              <a:buNone/>
            </a:pPr>
            <a:r>
              <a:rPr lang="en-IN" sz="3991" b="0" strike="noStrike" spc="-1"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6845" y="1603964"/>
            <a:ext cx="8228437" cy="3976819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4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903" b="0" strike="noStrike" spc="-1">
                <a:latin typeface="Arial"/>
              </a:rPr>
              <a:t>Click to edit the outline text format</a:t>
            </a:r>
          </a:p>
          <a:p>
            <a:pPr marL="783692" lvl="1" indent="-293885">
              <a:spcBef>
                <a:spcPts val="1026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2540" b="0" strike="noStrike" spc="-1">
                <a:latin typeface="Arial"/>
              </a:rPr>
              <a:t>Second Outline Level</a:t>
            </a:r>
          </a:p>
          <a:p>
            <a:pPr marL="1175537" lvl="2" indent="-261230">
              <a:spcBef>
                <a:spcPts val="77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2177" b="0" strike="noStrike" spc="-1">
                <a:latin typeface="Arial"/>
              </a:rPr>
              <a:t>Third Outline Level</a:t>
            </a:r>
          </a:p>
          <a:p>
            <a:pPr marL="1567382" lvl="3" indent="-195923">
              <a:spcBef>
                <a:spcPts val="512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IN" sz="1814" b="0" strike="noStrike" spc="-1">
                <a:latin typeface="Arial"/>
              </a:rPr>
              <a:t>Fourth Outline Level</a:t>
            </a:r>
          </a:p>
          <a:p>
            <a:pPr marL="1959228" lvl="4" indent="-195923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14" b="0" strike="noStrike" spc="-1">
                <a:latin typeface="Arial"/>
              </a:rPr>
              <a:t>Fifth Outline Level</a:t>
            </a:r>
          </a:p>
          <a:p>
            <a:pPr marL="2351074" lvl="5" indent="-195923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14" b="0" strike="noStrike" spc="-1">
                <a:latin typeface="Arial"/>
              </a:rPr>
              <a:t>Sixth Outline Level</a:t>
            </a:r>
          </a:p>
          <a:p>
            <a:pPr marL="2742920" lvl="6" indent="-195923">
              <a:spcBef>
                <a:spcPts val="255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IN" sz="1814" b="0" strike="noStrike" spc="-1">
                <a:latin typeface="Arial"/>
              </a:rPr>
              <a:t>Seventh Outline Level</a:t>
            </a:r>
          </a:p>
        </p:txBody>
      </p:sp>
    </p:spTree>
    <p:extLst>
      <p:ext uri="{BB962C8B-B14F-4D97-AF65-F5344CB8AC3E}">
        <p14:creationId xmlns:p14="http://schemas.microsoft.com/office/powerpoint/2010/main" val="14170272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97" r:id="rId1"/>
    <p:sldLayoutId id="2147483798" r:id="rId2"/>
    <p:sldLayoutId id="2147483799" r:id="rId3"/>
    <p:sldLayoutId id="2147483800" r:id="rId4"/>
    <p:sldLayoutId id="2147483801" r:id="rId5"/>
    <p:sldLayoutId id="2147483802" r:id="rId6"/>
    <p:sldLayoutId id="2147483803" r:id="rId7"/>
    <p:sldLayoutId id="2147483804" r:id="rId8"/>
    <p:sldLayoutId id="2147483805" r:id="rId9"/>
    <p:sldLayoutId id="2147483806" r:id="rId10"/>
    <p:sldLayoutId id="2147483807" r:id="rId11"/>
    <p:sldLayoutId id="2147483808" r:id="rId12"/>
    <p:sldLayoutId id="2147483810" r:id="rId13"/>
    <p:sldLayoutId id="2147483811" r:id="rId14"/>
    <p:sldLayoutId id="2147483812" r:id="rId15"/>
  </p:sldLayoutIdLst>
  <p:hf sldNum="0" hdr="0" ftr="0" dt="0"/>
  <p:txStyles>
    <p:titleStyle>
      <a:lvl1pPr algn="l" defTabSz="829406" rtl="0" eaLnBrk="1" latinLnBrk="0" hangingPunct="1">
        <a:lnSpc>
          <a:spcPct val="90000"/>
        </a:lnSpc>
        <a:spcBef>
          <a:spcPct val="0"/>
        </a:spcBef>
        <a:buNone/>
        <a:defRPr sz="399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4000" indent="-243000" algn="l" defTabSz="829406" rtl="0" eaLnBrk="1" latinLnBrk="0" hangingPunct="1">
        <a:lnSpc>
          <a:spcPct val="90000"/>
        </a:lnSpc>
        <a:spcBef>
          <a:spcPts val="1061"/>
        </a:spcBef>
        <a:buClr>
          <a:srgbClr val="000000"/>
        </a:buClr>
        <a:buSzPct val="45000"/>
        <a:buFont typeface="Wingdings" charset="2"/>
        <a:buChar char=""/>
        <a:defRPr sz="2540" kern="1200">
          <a:solidFill>
            <a:schemeClr val="tx1"/>
          </a:solidFill>
          <a:latin typeface="+mn-lt"/>
          <a:ea typeface="+mn-ea"/>
          <a:cs typeface="+mn-cs"/>
        </a:defRPr>
      </a:lvl1pPr>
      <a:lvl2pPr marL="622055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2177" kern="1200">
          <a:solidFill>
            <a:schemeClr val="tx1"/>
          </a:solidFill>
          <a:latin typeface="+mn-lt"/>
          <a:ea typeface="+mn-ea"/>
          <a:cs typeface="+mn-cs"/>
        </a:defRPr>
      </a:lvl2pPr>
      <a:lvl3pPr marL="1036758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814" kern="1200">
          <a:solidFill>
            <a:schemeClr val="tx1"/>
          </a:solidFill>
          <a:latin typeface="+mn-lt"/>
          <a:ea typeface="+mn-ea"/>
          <a:cs typeface="+mn-cs"/>
        </a:defRPr>
      </a:lvl3pPr>
      <a:lvl4pPr marL="1451462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866165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280868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695571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3110275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524978" indent="-207352" algn="l" defTabSz="829406" rtl="0" eaLnBrk="1" latinLnBrk="0" hangingPunct="1">
        <a:lnSpc>
          <a:spcPct val="90000"/>
        </a:lnSpc>
        <a:spcBef>
          <a:spcPts val="454"/>
        </a:spcBef>
        <a:buFont typeface="Arial" panose="020B0604020202020204" pitchFamily="34" charset="0"/>
        <a:buChar char="•"/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1pPr>
      <a:lvl2pPr marL="414704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2pPr>
      <a:lvl3pPr marL="829406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3pPr>
      <a:lvl4pPr marL="1244110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4pPr>
      <a:lvl5pPr marL="1658813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5pPr>
      <a:lvl6pPr marL="2073516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6pPr>
      <a:lvl7pPr marL="2488220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7pPr>
      <a:lvl8pPr marL="2902923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8pPr>
      <a:lvl9pPr marL="3317626" algn="l" defTabSz="829406" rtl="0" eaLnBrk="1" latinLnBrk="0" hangingPunct="1">
        <a:defRPr sz="16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Theory_of_games_and_economic_behavior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Macintosh%20HD:Users:olivernew:Documents:svn-projects:My%20Classes:310:2011:myslides:intro-choice.doc!OLE_LINK1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://en.wikipedia.org/wiki/Nash_equilibrium" TargetMode="Externa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29.pdf"/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Chandigarh University Archives - Worldwide Transcript"/>
          <p:cNvPicPr>
            <a:picLocks noChangeAspect="1" noChangeArrowheads="1"/>
          </p:cNvPicPr>
          <p:nvPr/>
        </p:nvPicPr>
        <p:blipFill>
          <a:blip r:embed="rId3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38" y="2074768"/>
            <a:ext cx="2782983" cy="27829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3" name="Google Shape;93;p1"/>
          <p:cNvSpPr txBox="1"/>
          <p:nvPr/>
        </p:nvSpPr>
        <p:spPr>
          <a:xfrm>
            <a:off x="6572250" y="5738813"/>
            <a:ext cx="2057400" cy="27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1"/>
          <p:cNvSpPr/>
          <p:nvPr/>
        </p:nvSpPr>
        <p:spPr>
          <a:xfrm rot="10800000" flipH="1">
            <a:off x="7796638" y="5144813"/>
            <a:ext cx="968400" cy="867900"/>
          </a:xfrm>
          <a:prstGeom prst="rtTriangle">
            <a:avLst/>
          </a:prstGeom>
          <a:solidFill>
            <a:srgbClr val="F2F2F2">
              <a:alpha val="16078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7" name="Google Shape;97;p1"/>
          <p:cNvSpPr/>
          <p:nvPr/>
        </p:nvSpPr>
        <p:spPr>
          <a:xfrm>
            <a:off x="1593056" y="2376395"/>
            <a:ext cx="5122200" cy="1185600"/>
          </a:xfrm>
          <a:prstGeom prst="rect">
            <a:avLst/>
          </a:prstGeom>
          <a:gradFill>
            <a:gsLst>
              <a:gs pos="0">
                <a:srgbClr val="FFFFFF">
                  <a:alpha val="0"/>
                </a:srgbClr>
              </a:gs>
              <a:gs pos="2659">
                <a:srgbClr val="FFFFFF">
                  <a:alpha val="0"/>
                </a:srgbClr>
              </a:gs>
              <a:gs pos="15000">
                <a:srgbClr val="FFFFFF">
                  <a:alpha val="33333"/>
                </a:srgbClr>
              </a:gs>
              <a:gs pos="51000">
                <a:schemeClr val="lt1"/>
              </a:gs>
              <a:gs pos="94000">
                <a:srgbClr val="FFFFFF">
                  <a:alpha val="33333"/>
                </a:srgbClr>
              </a:gs>
              <a:gs pos="100000">
                <a:srgbClr val="FFFFFF">
                  <a:alpha val="0"/>
                </a:srgbClr>
              </a:gs>
            </a:gsLst>
            <a:lin ang="0" scaled="0"/>
          </a:gra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buClr>
                <a:schemeClr val="lt1"/>
              </a:buClr>
              <a:buSzPts val="1800"/>
            </a:pPr>
            <a:endParaRPr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8" name="Google Shape;98;p1"/>
          <p:cNvSpPr/>
          <p:nvPr/>
        </p:nvSpPr>
        <p:spPr>
          <a:xfrm flipH="1">
            <a:off x="7360500" y="4786500"/>
            <a:ext cx="1774800" cy="1200300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>
              <a:buClr>
                <a:srgbClr val="000000"/>
              </a:buClr>
              <a:buSzPts val="1800"/>
            </a:pPr>
            <a:endParaRPr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"/>
          <p:cNvSpPr txBox="1"/>
          <p:nvPr/>
        </p:nvSpPr>
        <p:spPr>
          <a:xfrm>
            <a:off x="771896" y="1808835"/>
            <a:ext cx="8213400" cy="402054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90000"/>
              </a:lnSpc>
              <a:buClr>
                <a:schemeClr val="dk1"/>
              </a:buClr>
              <a:buSzPts val="3200"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UNIVERSITY INSTITUTE OF COMPUTING</a:t>
            </a:r>
            <a:endParaRPr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3200"/>
            </a:pPr>
            <a:r>
              <a:rPr lang="en-US" sz="32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 Black"/>
              </a:rPr>
              <a:t>MCA</a:t>
            </a:r>
            <a:endParaRPr lang="en-IN" sz="105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IN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Master of Computer Applications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  <a:spcBef>
                <a:spcPts val="1120"/>
              </a:spcBef>
              <a:buClr>
                <a:schemeClr val="dk1"/>
              </a:buClr>
              <a:buSzPts val="2800"/>
            </a:pPr>
            <a:r>
              <a:rPr lang="en-US" sz="20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Times New Roman"/>
              </a:rPr>
              <a:t>AIML/ 1</a:t>
            </a:r>
            <a:endParaRPr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IN" sz="16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 Intelligence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lnSpc>
                <a:spcPct val="90000"/>
              </a:lnSpc>
              <a:spcBef>
                <a:spcPts val="980"/>
              </a:spcBef>
              <a:buClr>
                <a:schemeClr val="dk1"/>
              </a:buClr>
              <a:buSzPts val="2800"/>
            </a:pPr>
            <a:r>
              <a:rPr lang="en-US" sz="2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(25CAT-613)</a:t>
            </a:r>
            <a:endParaRPr sz="16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algn="ctr"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Unit No.                      Chapter No.                     Lecture No.</a:t>
            </a: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Topic : ________3___________________</a:t>
            </a:r>
            <a:r>
              <a:rPr lang="en-US" b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1_________________43-45________</a:t>
            </a:r>
            <a:endParaRPr lang="en-US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>
              <a:spcBef>
                <a:spcPts val="1120"/>
              </a:spcBef>
              <a:buSzPts val="3200"/>
            </a:pPr>
            <a:r>
              <a:rPr lang="en-US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NISHA SHARMA and E2915                                                      </a:t>
            </a:r>
            <a:r>
              <a:rPr lang="en-US" b="1" dirty="0" err="1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Designation:AP</a:t>
            </a:r>
            <a:endParaRPr lang="en-US" sz="3200"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85E2170-6E52-163D-4579-180ED8258362}"/>
              </a:ext>
            </a:extLst>
          </p:cNvPr>
          <p:cNvSpPr txBox="1"/>
          <p:nvPr/>
        </p:nvSpPr>
        <p:spPr>
          <a:xfrm>
            <a:off x="2954550" y="857250"/>
            <a:ext cx="4183670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IN" b="1" dirty="0">
                <a:solidFill>
                  <a:schemeClr val="bg1">
                    <a:lumMod val="65000"/>
                  </a:schemeClr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Academic Session 2025-26 </a:t>
            </a:r>
          </a:p>
          <a:p>
            <a:pPr algn="r"/>
            <a:r>
              <a:rPr lang="en-IN" sz="16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ODD Semester Jul-Dec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4BED8776-82A9-C3BD-5844-FF0540513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2">
            <a:extLst>
              <a:ext uri="{FF2B5EF4-FFF2-40B4-BE49-F238E27FC236}">
                <a16:creationId xmlns:a16="http://schemas.microsoft.com/office/drawing/2014/main" id="{D89AB046-BF5D-9FB0-A377-F7F7D02D466C}"/>
              </a:ext>
            </a:extLst>
          </p:cNvPr>
          <p:cNvSpPr/>
          <p:nvPr/>
        </p:nvSpPr>
        <p:spPr>
          <a:xfrm>
            <a:off x="748146" y="1049678"/>
            <a:ext cx="8277101" cy="444600"/>
          </a:xfrm>
          <a:prstGeom prst="roundRect">
            <a:avLst>
              <a:gd name="adj" fmla="val 16667"/>
            </a:avLst>
          </a:prstGeom>
          <a:noFill/>
          <a:ln>
            <a:noFill/>
          </a:ln>
          <a:effectLst>
            <a:outerShdw blurRad="40000" dist="20000" dir="5400000" rotWithShape="0">
              <a:srgbClr val="000000">
                <a:alpha val="37647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chemeClr val="bg2"/>
              </a:solidFill>
            </a:endParaRPr>
          </a:p>
        </p:txBody>
      </p: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6C9CDB22-B6A6-EEC4-E538-5F62E68049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227927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92" indent="-342892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892" indent="-342892" algn="just">
              <a:lnSpc>
                <a:spcPct val="100000"/>
              </a:lnSpc>
              <a:buNone/>
            </a:pPr>
            <a:r>
              <a:rPr lang="en-US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C2F18147-F4D1-809E-DBDD-99CA1B0616F6}"/>
              </a:ext>
            </a:extLst>
          </p:cNvPr>
          <p:cNvSpPr txBox="1"/>
          <p:nvPr/>
        </p:nvSpPr>
        <p:spPr>
          <a:xfrm>
            <a:off x="83128" y="1958638"/>
            <a:ext cx="8942119" cy="36696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40639" algn="ctr">
              <a:lnSpc>
                <a:spcPts val="1370"/>
              </a:lnSpc>
            </a:pP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pPr marL="40639"/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LO1: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Gain</a:t>
            </a:r>
            <a:r>
              <a:rPr lang="en-US" sz="2400" b="1" spc="16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</a:t>
            </a:r>
            <a:r>
              <a:rPr lang="en-US" sz="2400" b="1" spc="17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foundational</a:t>
            </a:r>
            <a:r>
              <a:rPr lang="en-US" sz="2400" b="1" spc="1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understanding</a:t>
            </a:r>
            <a:r>
              <a:rPr lang="en-US" sz="2400" b="1" spc="1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 </a:t>
            </a:r>
            <a:r>
              <a:rPr lang="en-US" sz="2400" b="1" spc="-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of</a:t>
            </a:r>
            <a:r>
              <a:rPr lang="en-IN" sz="2400" b="1" spc="-2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Artificial</a:t>
            </a:r>
            <a:r>
              <a:rPr lang="en-US" sz="2400" b="1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Intelligence</a:t>
            </a:r>
            <a:r>
              <a:rPr lang="en-US" sz="2400" b="1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(AI)</a:t>
            </a:r>
            <a:r>
              <a:rPr lang="en-US" sz="2400" b="1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concepts</a:t>
            </a:r>
            <a:r>
              <a:rPr lang="en-US" sz="2400" b="1" spc="2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and </a:t>
            </a:r>
            <a:r>
              <a:rPr lang="en-US" sz="2400" b="1" spc="-1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applications</a:t>
            </a:r>
          </a:p>
          <a:p>
            <a:pPr algn="just">
              <a:lnSpc>
                <a:spcPct val="9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LO2:</a:t>
            </a:r>
            <a:r>
              <a:rPr lang="en-US" sz="2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Analyze and</a:t>
            </a:r>
            <a:r>
              <a:rPr lang="en-US" sz="2400" b="1" spc="-4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formulate</a:t>
            </a:r>
            <a:r>
              <a:rPr lang="en-US" sz="2400" b="1" spc="-1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single-agent</a:t>
            </a:r>
            <a:r>
              <a:rPr lang="en-US" sz="2400" b="1" spc="-8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 problems in state space representation.</a:t>
            </a:r>
            <a:endParaRPr lang="en-US" sz="2400" b="1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  <a:p>
            <a:pPr algn="just">
              <a:lnSpc>
                <a:spcPct val="9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LO3:</a:t>
            </a:r>
            <a:r>
              <a:rPr lang="en-US" sz="2400" b="1" dirty="0">
                <a:solidFill>
                  <a:schemeClr val="bg2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Apply various search algorithms to solve problems using Python.</a:t>
            </a:r>
          </a:p>
          <a:p>
            <a:pPr algn="just">
              <a:lnSpc>
                <a:spcPct val="9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LO4: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Evaluate the efficiency and effectiveness of different search algorithms based on problem characteristics</a:t>
            </a:r>
          </a:p>
          <a:p>
            <a:pPr algn="just">
              <a:lnSpc>
                <a:spcPct val="90000"/>
              </a:lnSpc>
            </a:pP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LO5: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Developing</a:t>
            </a:r>
            <a:r>
              <a:rPr lang="en-US" sz="2400" b="1" spc="-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AI</a:t>
            </a:r>
            <a:r>
              <a:rPr lang="en-US" sz="2400" b="1" spc="-4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agents that can</a:t>
            </a:r>
            <a:r>
              <a:rPr lang="en-US" sz="2400" b="1" spc="-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play</a:t>
            </a:r>
            <a:r>
              <a:rPr lang="en-US" sz="2400" b="1" spc="-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games by</a:t>
            </a:r>
            <a:r>
              <a:rPr lang="en-US" sz="2400" b="1" spc="35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utilizing</a:t>
            </a:r>
            <a:r>
              <a:rPr lang="en-US" sz="2400" b="1" spc="3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search</a:t>
            </a:r>
            <a:r>
              <a:rPr lang="en-US" sz="2400" b="1" spc="36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algorithms</a:t>
            </a:r>
            <a:r>
              <a:rPr lang="en-US" sz="2400" b="1" spc="37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</a:t>
            </a:r>
            <a:r>
              <a:rPr lang="en-US" sz="2400" b="1" spc="295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2400" b="1" spc="-2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make</a:t>
            </a:r>
            <a:endParaRPr lang="en-IN" sz="2400" b="1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09004" y="9432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16</a:t>
            </a:r>
          </a:p>
        </p:txBody>
      </p:sp>
      <p:grpSp>
        <p:nvGrpSpPr>
          <p:cNvPr id="2" name="Google Shape;108;p2">
            <a:extLst>
              <a:ext uri="{FF2B5EF4-FFF2-40B4-BE49-F238E27FC236}">
                <a16:creationId xmlns:a16="http://schemas.microsoft.com/office/drawing/2014/main" id="{CB1F709E-6E3A-773D-623E-2A747E5DBB44}"/>
              </a:ext>
            </a:extLst>
          </p:cNvPr>
          <p:cNvGrpSpPr/>
          <p:nvPr/>
        </p:nvGrpSpPr>
        <p:grpSpPr>
          <a:xfrm>
            <a:off x="639161" y="1448583"/>
            <a:ext cx="6776613" cy="333450"/>
            <a:chOff x="0" y="6299"/>
            <a:chExt cx="6074853" cy="444600"/>
          </a:xfrm>
          <a:noFill/>
        </p:grpSpPr>
        <p:sp>
          <p:nvSpPr>
            <p:cNvPr id="3" name="Google Shape;109;p2">
              <a:extLst>
                <a:ext uri="{FF2B5EF4-FFF2-40B4-BE49-F238E27FC236}">
                  <a16:creationId xmlns:a16="http://schemas.microsoft.com/office/drawing/2014/main" id="{84514D92-4BCF-4C6B-939B-9FA0BC5B292E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68569" tIns="68569" rIns="68569" bIns="68569" anchor="ctr" anchorCtr="0">
              <a:noAutofit/>
            </a:bodyPr>
            <a:lstStyle/>
            <a:p>
              <a:pPr>
                <a:spcBef>
                  <a:spcPts val="0"/>
                </a:spcBef>
                <a:spcAft>
                  <a:spcPts val="0"/>
                </a:spcAft>
              </a:pPr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4" name="Google Shape;110;p2">
              <a:extLst>
                <a:ext uri="{FF2B5EF4-FFF2-40B4-BE49-F238E27FC236}">
                  <a16:creationId xmlns:a16="http://schemas.microsoft.com/office/drawing/2014/main" id="{1BFC8397-E063-69C5-467E-69EF194EB152}"/>
                </a:ext>
              </a:extLst>
            </p:cNvPr>
            <p:cNvSpPr txBox="1"/>
            <p:nvPr/>
          </p:nvSpPr>
          <p:spPr>
            <a:xfrm>
              <a:off x="537327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54281" tIns="54281" rIns="54281" bIns="54281" anchor="ctr" anchorCtr="0">
              <a:noAutofit/>
            </a:bodyPr>
            <a:lstStyle/>
            <a:p>
              <a:pPr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900"/>
              </a:pPr>
              <a:r>
                <a:rPr lang="en-US" sz="3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Learning</a:t>
              </a:r>
              <a:r>
                <a:rPr lang="en-US" sz="3000" b="1" dirty="0">
                  <a:solidFill>
                    <a:schemeClr val="bg2"/>
                  </a:solidFill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 </a:t>
              </a:r>
              <a:r>
                <a:rPr lang="en-US" sz="3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Objectives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2103745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6326118" cy="1144631"/>
          </a:xfrm>
          <a:noFill/>
        </p:spPr>
        <p:txBody>
          <a:bodyPr/>
          <a:lstStyle/>
          <a:p>
            <a:pPr algn="ctr" eaLnBrk="1" hangingPunct="1"/>
            <a:r>
              <a:rPr lang="en-US" sz="4000" dirty="0"/>
              <a:t>AI Games vs. Economics Game Theory</a:t>
            </a:r>
          </a:p>
        </p:txBody>
      </p:sp>
      <p:sp>
        <p:nvSpPr>
          <p:cNvPr id="110595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2057400"/>
            <a:ext cx="7848600" cy="4343400"/>
          </a:xfrm>
        </p:spPr>
        <p:txBody>
          <a:bodyPr/>
          <a:lstStyle/>
          <a:p>
            <a:pPr algn="just" eaLnBrk="1" hangingPunct="1">
              <a:lnSpc>
                <a:spcPct val="90000"/>
              </a:lnSpc>
            </a:pPr>
            <a:r>
              <a:rPr lang="en-US" sz="2400" dirty="0"/>
              <a:t>Seminal Work on Game Theory: </a:t>
            </a:r>
            <a:r>
              <a:rPr lang="en-US" sz="2400" dirty="0">
                <a:hlinkClick r:id="rId3"/>
              </a:rPr>
              <a:t>Theory of Games and Economic Behavior</a:t>
            </a:r>
            <a:r>
              <a:rPr lang="en-US" sz="2400" dirty="0"/>
              <a:t>, 1944, by von Neumann and Morgenstern.</a:t>
            </a:r>
          </a:p>
          <a:p>
            <a:pPr algn="just" eaLnBrk="1" hangingPunct="1">
              <a:lnSpc>
                <a:spcPct val="90000"/>
              </a:lnSpc>
              <a:buNone/>
            </a:pPr>
            <a:endParaRPr lang="en-US" sz="2400" dirty="0"/>
          </a:p>
          <a:p>
            <a:pPr algn="just" eaLnBrk="1" hangingPunct="1">
              <a:lnSpc>
                <a:spcPct val="90000"/>
              </a:lnSpc>
            </a:pPr>
            <a:r>
              <a:rPr lang="en-US" sz="2400" dirty="0"/>
              <a:t>Agents can be in </a:t>
            </a:r>
            <a:r>
              <a:rPr lang="en-US" sz="2400" b="1" dirty="0"/>
              <a:t>cooperation as well as in conflict.</a:t>
            </a:r>
            <a:br>
              <a:rPr lang="en-US" sz="2400" dirty="0"/>
            </a:br>
            <a:endParaRPr lang="en-US" sz="2400" dirty="0"/>
          </a:p>
          <a:p>
            <a:pPr algn="just" eaLnBrk="1" hangingPunct="1">
              <a:lnSpc>
                <a:spcPct val="90000"/>
              </a:lnSpc>
            </a:pPr>
            <a:r>
              <a:rPr lang="en-US" sz="2400" dirty="0"/>
              <a:t>Agents may move simultaneously/independently.</a:t>
            </a:r>
          </a:p>
        </p:txBody>
      </p:sp>
    </p:spTree>
  </p:cSld>
  <p:clrMapOvr>
    <a:masterClrMapping/>
  </p:clrMapOvr>
  <p:transition>
    <p:cut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769813" y="855130"/>
            <a:ext cx="8228437" cy="1144631"/>
          </a:xfrm>
          <a:noFill/>
        </p:spPr>
        <p:txBody>
          <a:bodyPr/>
          <a:lstStyle/>
          <a:p>
            <a:pPr eaLnBrk="1" hangingPunct="1"/>
            <a:r>
              <a:rPr lang="en-US" sz="4000" dirty="0"/>
              <a:t>Example: The Prisoner’s Dilemma</a:t>
            </a:r>
          </a:p>
        </p:txBody>
      </p:sp>
      <p:graphicFrame>
        <p:nvGraphicFramePr>
          <p:cNvPr id="137218" name="Object 2"/>
          <p:cNvGraphicFramePr>
            <a:graphicFrameLocks noChangeAspect="1"/>
          </p:cNvGraphicFramePr>
          <p:nvPr/>
        </p:nvGraphicFramePr>
        <p:xfrm>
          <a:off x="779106" y="2362200"/>
          <a:ext cx="6974633" cy="14605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Document" r:id="rId3" imgW="5943600" imgH="1244600" progId="Word.Document.12">
                  <p:link updateAutomatic="1"/>
                </p:oleObj>
              </mc:Choice>
              <mc:Fallback>
                <p:oleObj name="Document" r:id="rId3" imgW="5943600" imgH="1244600" progId="Word.Document.12">
                  <p:link updateAutomatic="1"/>
                  <p:pic>
                    <p:nvPicPr>
                      <p:cNvPr id="0" name="Picture 2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79106" y="2362200"/>
                        <a:ext cx="6974633" cy="1460500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33400" y="4191000"/>
            <a:ext cx="746760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Other Famous Matrix Games:</a:t>
            </a:r>
          </a:p>
          <a:p>
            <a:pPr>
              <a:buFont typeface="Arial"/>
              <a:buChar char="•"/>
            </a:pPr>
            <a:r>
              <a:rPr lang="en-US" dirty="0"/>
              <a:t> Chicken</a:t>
            </a:r>
          </a:p>
          <a:p>
            <a:pPr>
              <a:buFont typeface="Arial"/>
              <a:buChar char="•"/>
            </a:pPr>
            <a:r>
              <a:rPr lang="en-US" dirty="0"/>
              <a:t> Battle of The Sexes</a:t>
            </a:r>
          </a:p>
          <a:p>
            <a:pPr>
              <a:buFont typeface="Arial"/>
              <a:buChar char="•"/>
            </a:pPr>
            <a:r>
              <a:rPr lang="en-US" dirty="0"/>
              <a:t> Coordination</a:t>
            </a:r>
          </a:p>
        </p:txBody>
      </p:sp>
    </p:spTree>
  </p:cSld>
  <p:clrMapOvr>
    <a:masterClrMapping/>
  </p:clrMapOvr>
  <p:transition>
    <p:cut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1143000" y="272987"/>
            <a:ext cx="7542282" cy="1144631"/>
          </a:xfrm>
          <a:noFill/>
        </p:spPr>
        <p:txBody>
          <a:bodyPr/>
          <a:lstStyle/>
          <a:p>
            <a:pPr eaLnBrk="1" hangingPunct="1"/>
            <a:r>
              <a:rPr lang="en-US" sz="4000" dirty="0"/>
              <a:t>Solving Zero-Sum Games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1752600"/>
            <a:ext cx="7848600" cy="31085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2800" dirty="0"/>
              <a:t> Perfect Information: Use </a:t>
            </a:r>
            <a:r>
              <a:rPr lang="en-US" sz="2800" dirty="0" err="1"/>
              <a:t>Minimax</a:t>
            </a:r>
            <a:r>
              <a:rPr lang="en-US" sz="2800" dirty="0"/>
              <a:t> Tree Search.</a:t>
            </a:r>
          </a:p>
          <a:p>
            <a:pPr>
              <a:buFont typeface="Arial"/>
              <a:buChar char="•"/>
            </a:pPr>
            <a:r>
              <a:rPr lang="en-US" sz="2800" dirty="0"/>
              <a:t> Imperfect Information: Extend </a:t>
            </a:r>
            <a:r>
              <a:rPr lang="en-US" sz="2800" dirty="0" err="1"/>
              <a:t>Minimax</a:t>
            </a:r>
            <a:r>
              <a:rPr lang="en-US" sz="2800" dirty="0"/>
              <a:t> Idea with </a:t>
            </a:r>
            <a:r>
              <a:rPr lang="en-US" sz="2800" b="1" dirty="0"/>
              <a:t>probabilistic actions.</a:t>
            </a:r>
            <a:endParaRPr lang="en-US" sz="2800" dirty="0"/>
          </a:p>
          <a:p>
            <a:pPr>
              <a:buFont typeface="Lucida Grande"/>
              <a:buChar char="➩"/>
            </a:pPr>
            <a:r>
              <a:rPr lang="en-US" sz="2800" dirty="0"/>
              <a:t> von Neumann’s </a:t>
            </a:r>
            <a:r>
              <a:rPr lang="en-US" sz="2800" b="1" dirty="0" err="1"/>
              <a:t>Minimax</a:t>
            </a:r>
            <a:r>
              <a:rPr lang="en-US" sz="2800" b="1" dirty="0"/>
              <a:t> Theorem</a:t>
            </a:r>
            <a:r>
              <a:rPr lang="en-US" sz="2800" dirty="0"/>
              <a:t>: there exists an essentially unique optimal probability distribution for randomizing an agent’s </a:t>
            </a:r>
            <a:r>
              <a:rPr lang="en-US" sz="2800" dirty="0" err="1"/>
              <a:t>behaviour</a:t>
            </a:r>
            <a:r>
              <a:rPr lang="en-US" sz="2800" dirty="0"/>
              <a:t>.</a:t>
            </a:r>
          </a:p>
        </p:txBody>
      </p:sp>
    </p:spTree>
  </p:cSld>
  <p:clrMapOvr>
    <a:masterClrMapping/>
  </p:clrMapOvr>
  <p:transition>
    <p:cut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1026"/>
          <p:cNvSpPr>
            <a:spLocks noGrp="1" noChangeArrowheads="1"/>
          </p:cNvSpPr>
          <p:nvPr>
            <p:ph type="title"/>
          </p:nvPr>
        </p:nvSpPr>
        <p:spPr>
          <a:xfrm>
            <a:off x="723900" y="190500"/>
            <a:ext cx="7772400" cy="1143000"/>
          </a:xfrm>
        </p:spPr>
        <p:txBody>
          <a:bodyPr/>
          <a:lstStyle/>
          <a:p>
            <a:pPr algn="ctr" eaLnBrk="1" hangingPunct="1"/>
            <a:r>
              <a:rPr lang="en-US" dirty="0"/>
              <a:t>Matching Pennies</a:t>
            </a:r>
            <a:endParaRPr lang="en-CA" dirty="0"/>
          </a:p>
        </p:txBody>
      </p:sp>
      <p:graphicFrame>
        <p:nvGraphicFramePr>
          <p:cNvPr id="16410" name="Group 1050"/>
          <p:cNvGraphicFramePr>
            <a:graphicFrameLocks noGrp="1"/>
          </p:cNvGraphicFramePr>
          <p:nvPr>
            <p:ph type="tbl" idx="1"/>
          </p:nvPr>
        </p:nvGraphicFramePr>
        <p:xfrm>
          <a:off x="1143000" y="2971800"/>
          <a:ext cx="5638800" cy="3124200"/>
        </p:xfrm>
        <a:graphic>
          <a:graphicData uri="http://schemas.openxmlformats.org/drawingml/2006/table">
            <a:tbl>
              <a:tblPr/>
              <a:tblGrid>
                <a:gridCol w="1879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7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1041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121920" marR="12192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Heads</a:t>
                      </a:r>
                      <a:endParaRPr kumimoji="0" lang="en-CA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Tails</a:t>
                      </a:r>
                      <a:endParaRPr kumimoji="0" lang="en-CA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41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Heads</a:t>
                      </a:r>
                      <a:endParaRPr kumimoji="0" lang="en-CA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121920" marR="12192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1,-1</a:t>
                      </a:r>
                      <a:endParaRPr kumimoji="0" lang="en-CA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-1,1</a:t>
                      </a:r>
                      <a:endParaRPr kumimoji="0" lang="en-CA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41400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Tails</a:t>
                      </a:r>
                      <a:endParaRPr kumimoji="0" lang="en-CA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121920" marR="121920" marT="34290" marB="34290"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-1,1</a:t>
                      </a:r>
                      <a:endParaRPr kumimoji="0" lang="en-CA" sz="21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21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charset="0"/>
                        </a:rPr>
                        <a:t>1,-1</a:t>
                      </a:r>
                      <a:endParaRPr kumimoji="0" lang="en-CA" sz="21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charset="0"/>
                      </a:endParaRPr>
                    </a:p>
                  </a:txBody>
                  <a:tcPr marL="121920" marR="121920" marT="34290" marB="34290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381000" y="1447800"/>
            <a:ext cx="8458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2400" dirty="0"/>
              <a:t> Why should the players randomize?</a:t>
            </a:r>
          </a:p>
          <a:p>
            <a:pPr>
              <a:buFont typeface="Arial"/>
              <a:buChar char="•"/>
            </a:pPr>
            <a:r>
              <a:rPr lang="en-US" sz="2400" dirty="0"/>
              <a:t> What are the best probabilities to use in their actions?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xfrm>
            <a:off x="883608" y="304800"/>
            <a:ext cx="8228437" cy="1144631"/>
          </a:xfrm>
          <a:noFill/>
        </p:spPr>
        <p:txBody>
          <a:bodyPr/>
          <a:lstStyle/>
          <a:p>
            <a:pPr algn="ctr" eaLnBrk="1" hangingPunct="1"/>
            <a:r>
              <a:rPr lang="en-US" dirty="0"/>
              <a:t>Nonzero Sum Game Trees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idx="1"/>
          </p:nvPr>
        </p:nvSpPr>
        <p:spPr>
          <a:xfrm>
            <a:off x="609600" y="1676400"/>
            <a:ext cx="7848600" cy="5029200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US" sz="2400" dirty="0"/>
              <a:t>The idea of “look ahead, reason backward” works for any game tree with perfect information. </a:t>
            </a:r>
          </a:p>
          <a:p>
            <a:pPr lvl="1" eaLnBrk="1" hangingPunct="1">
              <a:lnSpc>
                <a:spcPct val="90000"/>
              </a:lnSpc>
            </a:pPr>
            <a:r>
              <a:rPr lang="en-US" sz="2400" dirty="0"/>
              <a:t>I.e., also in cooperative games.</a:t>
            </a:r>
            <a:br>
              <a:rPr lang="en-US" sz="2400" dirty="0"/>
            </a:b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In AI, this is called </a:t>
            </a:r>
            <a:r>
              <a:rPr lang="en-US" sz="2400" b="1" dirty="0"/>
              <a:t>retrograde analysis</a:t>
            </a:r>
            <a:r>
              <a:rPr lang="en-US" sz="2400" dirty="0"/>
              <a:t>. </a:t>
            </a:r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In game theory, it is called </a:t>
            </a:r>
            <a:r>
              <a:rPr lang="en-US" sz="2400" b="1" dirty="0"/>
              <a:t>backward induction </a:t>
            </a:r>
            <a:r>
              <a:rPr lang="en-US" sz="2400" dirty="0"/>
              <a:t>or </a:t>
            </a:r>
            <a:r>
              <a:rPr lang="en-US" sz="2400" b="1" dirty="0" err="1"/>
              <a:t>subgame</a:t>
            </a:r>
            <a:r>
              <a:rPr lang="en-US" sz="2400" b="1" dirty="0"/>
              <a:t> perfect equilibrium.</a:t>
            </a:r>
            <a:br>
              <a:rPr lang="en-US" sz="2400" dirty="0"/>
            </a:br>
            <a:endParaRPr lang="en-US" sz="2400" dirty="0"/>
          </a:p>
          <a:p>
            <a:pPr eaLnBrk="1" hangingPunct="1">
              <a:lnSpc>
                <a:spcPct val="90000"/>
              </a:lnSpc>
            </a:pPr>
            <a:r>
              <a:rPr lang="en-US" sz="2400" dirty="0"/>
              <a:t>Can be extended to many games with imperfect information (sequential equilibrium).</a:t>
            </a:r>
          </a:p>
        </p:txBody>
      </p:sp>
    </p:spTree>
  </p:cSld>
  <p:clrMapOvr>
    <a:masterClrMapping/>
  </p:clrMapOvr>
  <p:transition>
    <p:cut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800518" y="864585"/>
            <a:ext cx="8228763" cy="1144631"/>
          </a:xfrm>
        </p:spPr>
        <p:txBody>
          <a:bodyPr/>
          <a:lstStyle/>
          <a:p>
            <a:r>
              <a:rPr lang="en-US" sz="2400" dirty="0"/>
              <a:t>Backward Induction Example: Hume’s Farmer Problem</a:t>
            </a:r>
          </a:p>
        </p:txBody>
      </p:sp>
      <p:sp>
        <p:nvSpPr>
          <p:cNvPr id="2052" name="Text Box 4"/>
          <p:cNvSpPr txBox="1">
            <a:spLocks noChangeArrowheads="1"/>
          </p:cNvSpPr>
          <p:nvPr/>
        </p:nvSpPr>
        <p:spPr bwMode="auto">
          <a:xfrm>
            <a:off x="3717925" y="2133600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1</a:t>
            </a:r>
          </a:p>
        </p:txBody>
      </p:sp>
      <p:sp>
        <p:nvSpPr>
          <p:cNvPr id="2053" name="Text Box 5"/>
          <p:cNvSpPr txBox="1">
            <a:spLocks noChangeArrowheads="1"/>
          </p:cNvSpPr>
          <p:nvPr/>
        </p:nvSpPr>
        <p:spPr bwMode="auto">
          <a:xfrm>
            <a:off x="2667000" y="3124200"/>
            <a:ext cx="22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</a:p>
        </p:txBody>
      </p:sp>
      <p:sp>
        <p:nvSpPr>
          <p:cNvPr id="2054" name="Text Box 6"/>
          <p:cNvSpPr txBox="1">
            <a:spLocks noChangeArrowheads="1"/>
          </p:cNvSpPr>
          <p:nvPr/>
        </p:nvSpPr>
        <p:spPr bwMode="auto">
          <a:xfrm>
            <a:off x="5149850" y="3125788"/>
            <a:ext cx="18415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2</a:t>
            </a:r>
          </a:p>
        </p:txBody>
      </p:sp>
      <p:sp>
        <p:nvSpPr>
          <p:cNvPr id="2055" name="Text Box 7"/>
          <p:cNvSpPr txBox="1">
            <a:spLocks noChangeArrowheads="1"/>
          </p:cNvSpPr>
          <p:nvPr/>
        </p:nvSpPr>
        <p:spPr bwMode="auto">
          <a:xfrm>
            <a:off x="2117725" y="3948113"/>
            <a:ext cx="363538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2</a:t>
            </a:r>
            <a:br>
              <a:rPr lang="en-US"/>
            </a:br>
            <a:r>
              <a:rPr lang="en-US"/>
              <a:t>2</a:t>
            </a:r>
          </a:p>
        </p:txBody>
      </p:sp>
      <p:sp>
        <p:nvSpPr>
          <p:cNvPr id="2056" name="Text Box 8"/>
          <p:cNvSpPr txBox="1">
            <a:spLocks noChangeArrowheads="1"/>
          </p:cNvSpPr>
          <p:nvPr/>
        </p:nvSpPr>
        <p:spPr bwMode="auto">
          <a:xfrm>
            <a:off x="3065463" y="3948113"/>
            <a:ext cx="363537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0</a:t>
            </a:r>
            <a:br>
              <a:rPr lang="en-US"/>
            </a:br>
            <a:r>
              <a:rPr lang="en-US"/>
              <a:t>3</a:t>
            </a:r>
          </a:p>
        </p:txBody>
      </p:sp>
      <p:sp>
        <p:nvSpPr>
          <p:cNvPr id="2057" name="Text Box 9"/>
          <p:cNvSpPr txBox="1">
            <a:spLocks noChangeArrowheads="1"/>
          </p:cNvSpPr>
          <p:nvPr/>
        </p:nvSpPr>
        <p:spPr bwMode="auto">
          <a:xfrm>
            <a:off x="4513263" y="3948113"/>
            <a:ext cx="363537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3</a:t>
            </a:r>
            <a:br>
              <a:rPr lang="en-US"/>
            </a:br>
            <a:r>
              <a:rPr lang="en-US"/>
              <a:t>0</a:t>
            </a:r>
          </a:p>
        </p:txBody>
      </p:sp>
      <p:sp>
        <p:nvSpPr>
          <p:cNvPr id="2058" name="Text Box 10"/>
          <p:cNvSpPr txBox="1">
            <a:spLocks noChangeArrowheads="1"/>
          </p:cNvSpPr>
          <p:nvPr/>
        </p:nvSpPr>
        <p:spPr bwMode="auto">
          <a:xfrm>
            <a:off x="5656263" y="3948113"/>
            <a:ext cx="363537" cy="83185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r>
              <a:rPr lang="en-US"/>
              <a:t>1</a:t>
            </a:r>
            <a:br>
              <a:rPr lang="en-US"/>
            </a:br>
            <a:r>
              <a:rPr lang="en-US"/>
              <a:t>1</a:t>
            </a:r>
          </a:p>
        </p:txBody>
      </p:sp>
      <p:sp>
        <p:nvSpPr>
          <p:cNvPr id="2059" name="Oval 11"/>
          <p:cNvSpPr>
            <a:spLocks noChangeArrowheads="1"/>
          </p:cNvSpPr>
          <p:nvPr/>
        </p:nvSpPr>
        <p:spPr bwMode="auto">
          <a:xfrm>
            <a:off x="3656013" y="2208213"/>
            <a:ext cx="457200" cy="3063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0" name="Oval 12"/>
          <p:cNvSpPr>
            <a:spLocks noChangeArrowheads="1"/>
          </p:cNvSpPr>
          <p:nvPr/>
        </p:nvSpPr>
        <p:spPr bwMode="auto">
          <a:xfrm>
            <a:off x="2590800" y="3198813"/>
            <a:ext cx="457200" cy="306387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1" name="Oval 13"/>
          <p:cNvSpPr>
            <a:spLocks noChangeArrowheads="1"/>
          </p:cNvSpPr>
          <p:nvPr/>
        </p:nvSpPr>
        <p:spPr bwMode="auto">
          <a:xfrm>
            <a:off x="5105400" y="3200400"/>
            <a:ext cx="457200" cy="3063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2" name="Line 14"/>
          <p:cNvSpPr>
            <a:spLocks noChangeShapeType="1"/>
          </p:cNvSpPr>
          <p:nvPr/>
        </p:nvSpPr>
        <p:spPr bwMode="auto">
          <a:xfrm flipH="1">
            <a:off x="2743200" y="2514600"/>
            <a:ext cx="11430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3" name="Line 15"/>
          <p:cNvSpPr>
            <a:spLocks noChangeShapeType="1"/>
          </p:cNvSpPr>
          <p:nvPr/>
        </p:nvSpPr>
        <p:spPr bwMode="auto">
          <a:xfrm>
            <a:off x="3886200" y="2514600"/>
            <a:ext cx="1447800" cy="685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4" name="Line 16"/>
          <p:cNvSpPr>
            <a:spLocks noChangeShapeType="1"/>
          </p:cNvSpPr>
          <p:nvPr/>
        </p:nvSpPr>
        <p:spPr bwMode="auto">
          <a:xfrm flipH="1">
            <a:off x="2286000" y="34290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5" name="Line 17"/>
          <p:cNvSpPr>
            <a:spLocks noChangeShapeType="1"/>
          </p:cNvSpPr>
          <p:nvPr/>
        </p:nvSpPr>
        <p:spPr bwMode="auto">
          <a:xfrm>
            <a:off x="2819400" y="3429000"/>
            <a:ext cx="4572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6" name="Line 18"/>
          <p:cNvSpPr>
            <a:spLocks noChangeShapeType="1"/>
          </p:cNvSpPr>
          <p:nvPr/>
        </p:nvSpPr>
        <p:spPr bwMode="auto">
          <a:xfrm flipH="1">
            <a:off x="4724400" y="3429000"/>
            <a:ext cx="6096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7" name="Line 19"/>
          <p:cNvSpPr>
            <a:spLocks noChangeShapeType="1"/>
          </p:cNvSpPr>
          <p:nvPr/>
        </p:nvSpPr>
        <p:spPr bwMode="auto">
          <a:xfrm>
            <a:off x="5334000" y="3429000"/>
            <a:ext cx="533400" cy="533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068" name="Text Box 20"/>
          <p:cNvSpPr txBox="1">
            <a:spLocks noChangeArrowheads="1"/>
          </p:cNvSpPr>
          <p:nvPr/>
        </p:nvSpPr>
        <p:spPr bwMode="auto">
          <a:xfrm>
            <a:off x="2743200" y="2590800"/>
            <a:ext cx="228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H</a:t>
            </a:r>
          </a:p>
        </p:txBody>
      </p:sp>
      <p:sp>
        <p:nvSpPr>
          <p:cNvPr id="2069" name="Text Box 21"/>
          <p:cNvSpPr txBox="1">
            <a:spLocks noChangeArrowheads="1"/>
          </p:cNvSpPr>
          <p:nvPr/>
        </p:nvSpPr>
        <p:spPr bwMode="auto">
          <a:xfrm>
            <a:off x="4953000" y="2514600"/>
            <a:ext cx="1371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Not H</a:t>
            </a:r>
          </a:p>
        </p:txBody>
      </p:sp>
      <p:sp>
        <p:nvSpPr>
          <p:cNvPr id="2070" name="Text Box 22"/>
          <p:cNvSpPr txBox="1">
            <a:spLocks noChangeArrowheads="1"/>
          </p:cNvSpPr>
          <p:nvPr/>
        </p:nvSpPr>
        <p:spPr bwMode="auto">
          <a:xfrm>
            <a:off x="1752600" y="34290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H1</a:t>
            </a:r>
          </a:p>
        </p:txBody>
      </p:sp>
      <p:sp>
        <p:nvSpPr>
          <p:cNvPr id="2071" name="Text Box 23"/>
          <p:cNvSpPr txBox="1">
            <a:spLocks noChangeArrowheads="1"/>
          </p:cNvSpPr>
          <p:nvPr/>
        </p:nvSpPr>
        <p:spPr bwMode="auto">
          <a:xfrm>
            <a:off x="3429000" y="3216275"/>
            <a:ext cx="6858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notH1</a:t>
            </a:r>
          </a:p>
        </p:txBody>
      </p:sp>
      <p:sp>
        <p:nvSpPr>
          <p:cNvPr id="2072" name="Text Box 24"/>
          <p:cNvSpPr txBox="1">
            <a:spLocks noChangeArrowheads="1"/>
          </p:cNvSpPr>
          <p:nvPr/>
        </p:nvSpPr>
        <p:spPr bwMode="auto">
          <a:xfrm>
            <a:off x="4229100" y="3429000"/>
            <a:ext cx="685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H2</a:t>
            </a:r>
          </a:p>
        </p:txBody>
      </p:sp>
      <p:sp>
        <p:nvSpPr>
          <p:cNvPr id="2073" name="Text Box 25"/>
          <p:cNvSpPr txBox="1">
            <a:spLocks noChangeArrowheads="1"/>
          </p:cNvSpPr>
          <p:nvPr/>
        </p:nvSpPr>
        <p:spPr bwMode="auto">
          <a:xfrm>
            <a:off x="6019800" y="3200400"/>
            <a:ext cx="838200" cy="8223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>
              <a:spcBef>
                <a:spcPct val="50000"/>
              </a:spcBef>
            </a:pPr>
            <a:r>
              <a:rPr lang="en-US"/>
              <a:t>Not H2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594" name="Rectangle 2"/>
          <p:cNvSpPr>
            <a:spLocks noGrp="1" noChangeArrowheads="1"/>
          </p:cNvSpPr>
          <p:nvPr>
            <p:ph type="title"/>
          </p:nvPr>
        </p:nvSpPr>
        <p:spPr>
          <a:noFill/>
        </p:spPr>
        <p:txBody>
          <a:bodyPr/>
          <a:lstStyle/>
          <a:p>
            <a:pPr algn="ctr" eaLnBrk="1" hangingPunct="1"/>
            <a:r>
              <a:rPr lang="en-US" dirty="0"/>
              <a:t>Summary: Solving Games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04800" y="1828800"/>
          <a:ext cx="8504238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74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83474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8347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70367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Zero-sum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Non zero-sum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811866">
                <a:tc>
                  <a:txBody>
                    <a:bodyPr/>
                    <a:lstStyle/>
                    <a:p>
                      <a:r>
                        <a:rPr lang="en-US" dirty="0"/>
                        <a:t>Perfect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 err="1"/>
                        <a:t>Minimax</a:t>
                      </a:r>
                      <a:r>
                        <a:rPr lang="en-US" dirty="0"/>
                        <a:t>, alpha-beta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Backward induction, retrograde analysis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367">
                <a:tc>
                  <a:txBody>
                    <a:bodyPr/>
                    <a:lstStyle/>
                    <a:p>
                      <a:r>
                        <a:rPr lang="en-US" dirty="0"/>
                        <a:t>Imperfect Information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Probabilistic </a:t>
                      </a:r>
                      <a:r>
                        <a:rPr lang="en-US" dirty="0" err="1"/>
                        <a:t>minimax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Nash equilibrium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33400" y="4114800"/>
            <a:ext cx="7924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hlinkClick r:id="rId3"/>
              </a:rPr>
              <a:t>Nash equilibrium</a:t>
            </a:r>
            <a:r>
              <a:rPr lang="en-US" sz="2400" dirty="0"/>
              <a:t> is beyond the scope of this course.</a:t>
            </a:r>
          </a:p>
        </p:txBody>
      </p:sp>
    </p:spTree>
  </p:cSld>
  <p:clrMapOvr>
    <a:masterClrMapping/>
  </p:clrMapOvr>
  <p:transition>
    <p:cut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Single Agent vs. 2-Players</a:t>
            </a:r>
          </a:p>
        </p:txBody>
      </p:sp>
      <p:sp>
        <p:nvSpPr>
          <p:cNvPr id="23555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i="1" dirty="0"/>
              <a:t>Every single agent problem can be considered as a special case of a 2-player game.</a:t>
            </a:r>
            <a:r>
              <a:rPr lang="en-US" dirty="0"/>
              <a:t> How?</a:t>
            </a:r>
          </a:p>
          <a:p>
            <a:pPr marL="788988" lvl="1" indent="-514350">
              <a:buFont typeface="+mj-lt"/>
              <a:buAutoNum type="arabicPeriod"/>
            </a:pPr>
            <a:r>
              <a:rPr lang="en-US" dirty="0"/>
              <a:t>Make one of the players the Environment, with a constant utility function (e.g., always 0).</a:t>
            </a:r>
          </a:p>
          <a:p>
            <a:pPr marL="1063625" lvl="2" indent="-514350">
              <a:buFont typeface="+mj-lt"/>
              <a:buAutoNum type="arabicPeriod"/>
            </a:pPr>
            <a:r>
              <a:rPr lang="en-US" dirty="0"/>
              <a:t>The Environment acts but does not care.</a:t>
            </a:r>
          </a:p>
          <a:p>
            <a:pPr marL="788988" lvl="1" indent="-514350">
              <a:buFont typeface="+mj-lt"/>
              <a:buAutoNum type="arabicPeriod"/>
            </a:pPr>
            <a:r>
              <a:rPr lang="en-US" dirty="0"/>
              <a:t>An adversarial Environment, with utility function the negative of agent’s utility.</a:t>
            </a:r>
          </a:p>
          <a:p>
            <a:pPr marL="1063625" lvl="2" indent="-514350">
              <a:buFont typeface="+mj-lt"/>
              <a:buAutoNum type="arabicPeriod"/>
            </a:pPr>
            <a:r>
              <a:rPr lang="en-US" dirty="0"/>
              <a:t>In minimization, Environment’s utility is player’s costs.</a:t>
            </a:r>
          </a:p>
          <a:p>
            <a:pPr marL="1063625" lvl="2" indent="-514350">
              <a:buFont typeface="+mj-lt"/>
              <a:buAutoNum type="arabicPeriod"/>
            </a:pPr>
            <a:r>
              <a:rPr lang="en-US" dirty="0"/>
              <a:t>Worst-Case Analysis.</a:t>
            </a:r>
          </a:p>
          <a:p>
            <a:pPr marL="1063625" lvl="2" indent="-514350">
              <a:buFont typeface="+mj-lt"/>
              <a:buAutoNum type="arabicPeriod"/>
            </a:pPr>
            <a:r>
              <a:rPr lang="en-US" dirty="0"/>
              <a:t>E.g., program correctness: no matter what input user gives, program gives correct answer.</a:t>
            </a:r>
          </a:p>
          <a:p>
            <a:r>
              <a:rPr lang="en-US" dirty="0"/>
              <a:t>So agent design is a subfield of game theory.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457618" y="666387"/>
            <a:ext cx="8228763" cy="1144631"/>
          </a:xfrm>
        </p:spPr>
        <p:txBody>
          <a:bodyPr/>
          <a:lstStyle/>
          <a:p>
            <a:pPr algn="ctr" eaLnBrk="1" hangingPunct="1"/>
            <a:r>
              <a:rPr lang="en-US" sz="4000" dirty="0"/>
              <a:t>Single Agent Design = Game Theory</a:t>
            </a:r>
            <a:endParaRPr lang="en-CA" sz="4000" dirty="0"/>
          </a:p>
        </p:txBody>
      </p:sp>
      <p:sp>
        <p:nvSpPr>
          <p:cNvPr id="19459" name="Text Box 3"/>
          <p:cNvSpPr txBox="1">
            <a:spLocks noChangeArrowheads="1"/>
          </p:cNvSpPr>
          <p:nvPr/>
        </p:nvSpPr>
        <p:spPr bwMode="auto">
          <a:xfrm>
            <a:off x="1676400" y="2286000"/>
            <a:ext cx="49530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Von Neumann-Morgenstern Games</a:t>
            </a:r>
            <a:endParaRPr lang="en-CA"/>
          </a:p>
        </p:txBody>
      </p:sp>
      <p:sp>
        <p:nvSpPr>
          <p:cNvPr id="19460" name="Text Box 4"/>
          <p:cNvSpPr txBox="1">
            <a:spLocks noChangeArrowheads="1"/>
          </p:cNvSpPr>
          <p:nvPr/>
        </p:nvSpPr>
        <p:spPr bwMode="auto">
          <a:xfrm>
            <a:off x="1295400" y="3048001"/>
            <a:ext cx="5715000" cy="9233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l"/>
            <a:r>
              <a:rPr lang="en-US" dirty="0"/>
              <a:t>Decision Theory = 2-player game, 1st player the “agent”, 2</a:t>
            </a:r>
            <a:r>
              <a:rPr lang="en-US" baseline="30000" dirty="0"/>
              <a:t>nd</a:t>
            </a:r>
            <a:r>
              <a:rPr lang="en-US" dirty="0"/>
              <a:t> player “environment/nature” </a:t>
            </a:r>
          </a:p>
          <a:p>
            <a:pPr algn="l"/>
            <a:r>
              <a:rPr lang="en-US" dirty="0"/>
              <a:t>(with constant or adversarial utility function)</a:t>
            </a:r>
            <a:endParaRPr lang="en-CA" dirty="0"/>
          </a:p>
        </p:txBody>
      </p:sp>
      <p:sp>
        <p:nvSpPr>
          <p:cNvPr id="19461" name="Text Box 5"/>
          <p:cNvSpPr txBox="1">
            <a:spLocks noChangeArrowheads="1"/>
          </p:cNvSpPr>
          <p:nvPr/>
        </p:nvSpPr>
        <p:spPr bwMode="auto">
          <a:xfrm>
            <a:off x="2336800" y="4686300"/>
            <a:ext cx="3733800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Markov Decision Processes</a:t>
            </a:r>
            <a:endParaRPr lang="en-CA"/>
          </a:p>
        </p:txBody>
      </p:sp>
      <p:sp>
        <p:nvSpPr>
          <p:cNvPr id="19462" name="Text Box 6"/>
          <p:cNvSpPr txBox="1">
            <a:spLocks noChangeArrowheads="1"/>
          </p:cNvSpPr>
          <p:nvPr/>
        </p:nvSpPr>
        <p:spPr bwMode="auto">
          <a:xfrm>
            <a:off x="2946401" y="5429250"/>
            <a:ext cx="2493433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Planning Problems</a:t>
            </a:r>
            <a:endParaRPr lang="en-CA"/>
          </a:p>
        </p:txBody>
      </p:sp>
      <p:sp>
        <p:nvSpPr>
          <p:cNvPr id="19463" name="Line 7"/>
          <p:cNvSpPr>
            <a:spLocks noChangeShapeType="1"/>
          </p:cNvSpPr>
          <p:nvPr/>
        </p:nvSpPr>
        <p:spPr bwMode="auto">
          <a:xfrm>
            <a:off x="7162800" y="2514600"/>
            <a:ext cx="0" cy="2971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</p:spPr>
        <p:txBody>
          <a:bodyPr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64" name="Text Box 8"/>
          <p:cNvSpPr txBox="1">
            <a:spLocks noChangeArrowheads="1"/>
          </p:cNvSpPr>
          <p:nvPr/>
        </p:nvSpPr>
        <p:spPr bwMode="auto">
          <a:xfrm>
            <a:off x="7467601" y="3048001"/>
            <a:ext cx="1005879" cy="14773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prstTxWarp prst="textNoShape">
              <a:avLst/>
            </a:prstTxWarp>
            <a:spAutoFit/>
          </a:bodyPr>
          <a:lstStyle/>
          <a:p>
            <a:pPr algn="l"/>
            <a:r>
              <a:rPr lang="en-US"/>
              <a:t>From </a:t>
            </a:r>
          </a:p>
          <a:p>
            <a:pPr algn="l"/>
            <a:r>
              <a:rPr lang="en-US"/>
              <a:t>General</a:t>
            </a:r>
          </a:p>
          <a:p>
            <a:pPr algn="l"/>
            <a:r>
              <a:rPr lang="en-US"/>
              <a:t>To </a:t>
            </a:r>
          </a:p>
          <a:p>
            <a:pPr algn="l"/>
            <a:r>
              <a:rPr lang="en-US"/>
              <a:t>Special</a:t>
            </a:r>
          </a:p>
          <a:p>
            <a:pPr algn="l"/>
            <a:r>
              <a:rPr lang="en-US"/>
              <a:t>Case</a:t>
            </a:r>
            <a:endParaRPr lang="en-CA"/>
          </a:p>
        </p:txBody>
      </p:sp>
      <p:sp>
        <p:nvSpPr>
          <p:cNvPr id="19465" name="Rectangle 9"/>
          <p:cNvSpPr>
            <a:spLocks noChangeArrowheads="1"/>
          </p:cNvSpPr>
          <p:nvPr/>
        </p:nvSpPr>
        <p:spPr bwMode="auto">
          <a:xfrm>
            <a:off x="1445684" y="2208610"/>
            <a:ext cx="4953000" cy="70604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66" name="Rectangle 10"/>
          <p:cNvSpPr>
            <a:spLocks noChangeArrowheads="1"/>
          </p:cNvSpPr>
          <p:nvPr/>
        </p:nvSpPr>
        <p:spPr bwMode="auto">
          <a:xfrm>
            <a:off x="1320800" y="3028950"/>
            <a:ext cx="5486400" cy="12573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67" name="Rectangle 11"/>
          <p:cNvSpPr>
            <a:spLocks noChangeArrowheads="1"/>
          </p:cNvSpPr>
          <p:nvPr/>
        </p:nvSpPr>
        <p:spPr bwMode="auto">
          <a:xfrm>
            <a:off x="2133600" y="4629150"/>
            <a:ext cx="3810000" cy="6858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9468" name="Rectangle 12"/>
          <p:cNvSpPr>
            <a:spLocks noChangeArrowheads="1"/>
          </p:cNvSpPr>
          <p:nvPr/>
        </p:nvSpPr>
        <p:spPr bwMode="auto">
          <a:xfrm>
            <a:off x="2743200" y="5486400"/>
            <a:ext cx="2667000" cy="533400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>
            <a:prstTxWarp prst="textNoShape">
              <a:avLst/>
            </a:prstTxWarp>
          </a:bodyPr>
          <a:lstStyle/>
          <a:p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sz="4000" dirty="0"/>
              <a:t>Example: And-Or Trees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If an agent’s actions have nondeterministic effects, we can model worst-case analysis as a zero-sum game where the environment chooses the effects of an agent’s actions.</a:t>
            </a:r>
          </a:p>
          <a:p>
            <a:r>
              <a:rPr lang="en-US" dirty="0" err="1"/>
              <a:t>Minimax</a:t>
            </a:r>
            <a:r>
              <a:rPr lang="en-US" dirty="0"/>
              <a:t> Search ≈ And-Or Search.</a:t>
            </a:r>
          </a:p>
          <a:p>
            <a:r>
              <a:rPr lang="en-US" dirty="0"/>
              <a:t>Example: The Erratic Vacuum Cleaner.</a:t>
            </a:r>
          </a:p>
          <a:p>
            <a:pPr lvl="1"/>
            <a:r>
              <a:rPr lang="en-US" dirty="0"/>
              <a:t>When applied to dirty square, vacuum cleans it and sometimes adjacent square too.</a:t>
            </a:r>
          </a:p>
          <a:p>
            <a:pPr lvl="1"/>
            <a:r>
              <a:rPr lang="en-US" dirty="0"/>
              <a:t>When applied to clean square, sometimes vacuum makes it dirty.</a:t>
            </a:r>
          </a:p>
          <a:p>
            <a:pPr lvl="1"/>
            <a:r>
              <a:rPr lang="en-US" dirty="0"/>
              <a:t>Reflex agent: same action for same location, dirt status.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And-Or Tree for the Erratic Vacuum</a:t>
            </a:r>
          </a:p>
        </p:txBody>
      </p:sp>
      <p:pic>
        <p:nvPicPr>
          <p:cNvPr id="8" name="Content Placeholder 7" descr="erratic-vacuum.pdf"/>
          <p:cNvPicPr>
            <a:picLocks noGrp="1" noChangeAspect="1"/>
          </p:cNvPicPr>
          <p:nvPr>
            <p:ph idx="1"/>
          </p:nvPr>
        </p:nvPicPr>
        <mc:AlternateContent xmlns:mc="http://schemas.openxmlformats.org/markup-compatibility/2006">
          <mc:Choice xmlns:ma="http://schemas.microsoft.com/office/mac/drawingml/2008/main" xmlns:mv="urn:schemas-microsoft-com:mac:vml" xmlns="" Requires="ma">
            <p:blipFill>
              <a:blip r:embed="rId2"/>
              <a:stretch>
                <a:fillRect/>
              </a:stretch>
            </p:blipFill>
          </mc:Choice>
          <mc:Fallback>
            <p:blipFill>
              <a:blip r:embed="rId3"/>
              <a:stretch>
                <a:fillRect/>
              </a:stretch>
            </p:blipFill>
          </mc:Fallback>
        </mc:AlternateContent>
        <p:spPr>
          <a:xfrm>
            <a:off x="457199" y="1574800"/>
            <a:ext cx="4497627" cy="4140200"/>
          </a:xfrm>
        </p:spPr>
      </p:pic>
      <p:sp>
        <p:nvSpPr>
          <p:cNvPr id="9" name="TextBox 8"/>
          <p:cNvSpPr txBox="1"/>
          <p:nvPr/>
        </p:nvSpPr>
        <p:spPr>
          <a:xfrm>
            <a:off x="5410200" y="1524000"/>
            <a:ext cx="2895600" cy="489364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/>
              <a:buChar char="•"/>
            </a:pPr>
            <a:r>
              <a:rPr lang="en-US" sz="2400" dirty="0"/>
              <a:t> The agent “moves” at </a:t>
            </a:r>
            <a:r>
              <a:rPr lang="en-US" sz="2400" dirty="0" err="1"/>
              <a:t>labelled</a:t>
            </a:r>
            <a:r>
              <a:rPr lang="en-US" sz="2400" dirty="0"/>
              <a:t> OR nodes.</a:t>
            </a:r>
          </a:p>
          <a:p>
            <a:pPr>
              <a:buFont typeface="Arial"/>
              <a:buChar char="•"/>
            </a:pPr>
            <a:r>
              <a:rPr lang="en-US" sz="2400" dirty="0"/>
              <a:t> The environment “moves” at unlabelled AND nodes.</a:t>
            </a:r>
          </a:p>
          <a:p>
            <a:pPr>
              <a:buFont typeface="Arial"/>
              <a:buChar char="•"/>
            </a:pPr>
            <a:r>
              <a:rPr lang="en-US" sz="2400" dirty="0"/>
              <a:t>The agent wins if it reaches a goal state.</a:t>
            </a:r>
          </a:p>
          <a:p>
            <a:pPr>
              <a:buFont typeface="Arial"/>
              <a:buChar char="•"/>
            </a:pPr>
            <a:r>
              <a:rPr lang="en-US" sz="2400" dirty="0"/>
              <a:t> The environment “wins” if the agent goes into a loop.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Game Theory is a very general, highly developed framework for multi-agent interactions.</a:t>
            </a:r>
          </a:p>
          <a:p>
            <a:r>
              <a:rPr lang="en-US" dirty="0"/>
              <a:t>Deep results about equivalences of various environment types.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CFEAE-9429-F5DD-96BC-E221C6945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6845" y="272987"/>
            <a:ext cx="8228437" cy="641413"/>
          </a:xfrm>
        </p:spPr>
        <p:txBody>
          <a:bodyPr/>
          <a:lstStyle/>
          <a:p>
            <a:pPr algn="ctr"/>
            <a:r>
              <a:rPr lang="en-IN" b="1" dirty="0"/>
              <a:t>QUIZ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57F58AD-1DC9-1CAB-A016-C6C7CDBFCA36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Adversarial search problems involve: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A single agent and passive environment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Multiple cooperating agents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Agents with conflicting goals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Random environments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c) Agents with conflicting goals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The minimax algorithm is used in: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Optimization problems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Probabilistic reasoning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Adversarial games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Planning problems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c) Adversarial games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 the minimax algorithm, the MAX player aims to: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Minimize the minimum loss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Maximize the maximum gain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Maximize the utility value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Minimize the utility value</a:t>
            </a:r>
            <a:b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c) Maximize the utility value</a:t>
            </a:r>
          </a:p>
        </p:txBody>
      </p:sp>
    </p:spTree>
    <p:extLst>
      <p:ext uri="{BB962C8B-B14F-4D97-AF65-F5344CB8AC3E}">
        <p14:creationId xmlns:p14="http://schemas.microsoft.com/office/powerpoint/2010/main" val="23856557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9F0C71-DF37-B1C9-F1EB-F55AE62507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5C736B4-458C-1FF9-52FA-A525AE926B7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Which of the following is not a property of the minimax algorithm?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Complete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Optimal against an optimal opponent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Requires less memory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Works only for deterministic games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c) Requires less memory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Alpha-beta pruning is used to: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Improve accuracy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Reduce the number of nodes evaluated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Increase the depth of the game tree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Store more heuristics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b) Reduce the number of nodes evaluated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What are alpha and beta values in alpha-beta pruning?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a) Lower and upper bounds for possible solutions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b) Probability values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c) Cost functions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d) Heuristic scores</a:t>
            </a:r>
            <a:b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Answer:</a:t>
            </a:r>
            <a:r>
              <a:rPr kumimoji="0" lang="en-US" alt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a) Lower and upper bounds for possible solutions</a:t>
            </a:r>
          </a:p>
        </p:txBody>
      </p:sp>
    </p:spTree>
    <p:extLst>
      <p:ext uri="{BB962C8B-B14F-4D97-AF65-F5344CB8AC3E}">
        <p14:creationId xmlns:p14="http://schemas.microsoft.com/office/powerpoint/2010/main" val="33776785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159D6-2122-0F64-F858-DD9FBF5AB9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6845" y="685800"/>
            <a:ext cx="8228437" cy="6096000"/>
          </a:xfrm>
        </p:spPr>
        <p:txBody>
          <a:bodyPr>
            <a:normAutofit/>
          </a:bodyPr>
          <a:lstStyle/>
          <a:p>
            <a:r>
              <a:rPr lang="en-US" sz="1400" b="1" dirty="0"/>
              <a:t>In alpha-beta pruning, if beta ≤ alpha:</a:t>
            </a:r>
            <a:br>
              <a:rPr lang="en-US" sz="1400" dirty="0"/>
            </a:br>
            <a:r>
              <a:rPr lang="en-US" sz="1400" dirty="0"/>
              <a:t>a) Prune the remaining branches</a:t>
            </a:r>
            <a:br>
              <a:rPr lang="en-US" sz="1400" dirty="0"/>
            </a:br>
            <a:r>
              <a:rPr lang="en-US" sz="1400" dirty="0"/>
              <a:t>b) Explore deeper nodes</a:t>
            </a:r>
            <a:br>
              <a:rPr lang="en-US" sz="1400" dirty="0"/>
            </a:br>
            <a:r>
              <a:rPr lang="en-US" sz="1400" dirty="0"/>
              <a:t>c) Increase alpha</a:t>
            </a:r>
            <a:br>
              <a:rPr lang="en-US" sz="1400" dirty="0"/>
            </a:br>
            <a:r>
              <a:rPr lang="en-US" sz="1400" dirty="0"/>
              <a:t>d) Continue evaluating</a:t>
            </a:r>
            <a:br>
              <a:rPr lang="en-US" sz="1400" dirty="0"/>
            </a:br>
            <a:r>
              <a:rPr lang="en-US" sz="1400" b="1" dirty="0"/>
              <a:t>Answer:</a:t>
            </a:r>
            <a:r>
              <a:rPr lang="en-US" sz="1400" dirty="0"/>
              <a:t> a) Prune the remaining branches</a:t>
            </a:r>
          </a:p>
          <a:p>
            <a:r>
              <a:rPr lang="en-US" sz="1400" b="1" dirty="0"/>
              <a:t>What is the time complexity of minimax algorithm in a game tree of depth </a:t>
            </a:r>
            <a:r>
              <a:rPr lang="en-US" sz="1400" b="1" i="1" dirty="0"/>
              <a:t>m</a:t>
            </a:r>
            <a:r>
              <a:rPr lang="en-US" sz="1400" b="1" dirty="0"/>
              <a:t> and branching factor </a:t>
            </a:r>
            <a:r>
              <a:rPr lang="en-US" sz="1400" b="1" i="1" dirty="0"/>
              <a:t>b</a:t>
            </a:r>
            <a:r>
              <a:rPr lang="en-US" sz="1400" b="1" dirty="0"/>
              <a:t>?</a:t>
            </a:r>
            <a:br>
              <a:rPr lang="en-US" sz="1400" dirty="0"/>
            </a:br>
            <a:r>
              <a:rPr lang="en-US" sz="1400" dirty="0"/>
              <a:t>a) O(b + m)</a:t>
            </a:r>
            <a:br>
              <a:rPr lang="en-US" sz="1400" dirty="0"/>
            </a:br>
            <a:r>
              <a:rPr lang="en-US" sz="1400" dirty="0"/>
              <a:t>b) O(m²)</a:t>
            </a:r>
            <a:br>
              <a:rPr lang="en-US" sz="1400" dirty="0"/>
            </a:br>
            <a:r>
              <a:rPr lang="en-US" sz="1400" dirty="0"/>
              <a:t>c) O(</a:t>
            </a:r>
            <a:r>
              <a:rPr lang="en-US" sz="1400" dirty="0" err="1"/>
              <a:t>b^m</a:t>
            </a:r>
            <a:r>
              <a:rPr lang="en-US" sz="1400" dirty="0"/>
              <a:t>)</a:t>
            </a:r>
            <a:br>
              <a:rPr lang="en-US" sz="1400" dirty="0"/>
            </a:br>
            <a:r>
              <a:rPr lang="en-US" sz="1400" dirty="0"/>
              <a:t>d) O(</a:t>
            </a:r>
            <a:r>
              <a:rPr lang="en-US" sz="1400" dirty="0" err="1"/>
              <a:t>m^b</a:t>
            </a:r>
            <a:r>
              <a:rPr lang="en-US" sz="1400" dirty="0"/>
              <a:t>)</a:t>
            </a:r>
            <a:br>
              <a:rPr lang="en-US" sz="1400" dirty="0"/>
            </a:br>
            <a:r>
              <a:rPr lang="en-US" sz="1400" b="1" dirty="0"/>
              <a:t>Answer:</a:t>
            </a:r>
            <a:r>
              <a:rPr lang="en-US" sz="1400" dirty="0"/>
              <a:t> c) O(</a:t>
            </a:r>
            <a:r>
              <a:rPr lang="en-US" sz="1400" dirty="0" err="1"/>
              <a:t>b^m</a:t>
            </a:r>
            <a:r>
              <a:rPr lang="en-US" sz="1400" dirty="0"/>
              <a:t>)</a:t>
            </a:r>
          </a:p>
          <a:p>
            <a:r>
              <a:rPr lang="en-US" sz="1400" b="1" dirty="0"/>
              <a:t>Which of the following will improve alpha-beta pruning performance the most?</a:t>
            </a:r>
            <a:br>
              <a:rPr lang="en-US" sz="1400" dirty="0"/>
            </a:br>
            <a:r>
              <a:rPr lang="en-US" sz="1400" dirty="0"/>
              <a:t>a) Evaluating nodes randomly</a:t>
            </a:r>
            <a:br>
              <a:rPr lang="en-US" sz="1400" dirty="0"/>
            </a:br>
            <a:r>
              <a:rPr lang="en-US" sz="1400" dirty="0"/>
              <a:t>b) Expanding the least promising node first</a:t>
            </a:r>
            <a:br>
              <a:rPr lang="en-US" sz="1400" dirty="0"/>
            </a:br>
            <a:r>
              <a:rPr lang="en-US" sz="1400" dirty="0"/>
              <a:t>c) Ordering moves to examine the best ones first</a:t>
            </a:r>
            <a:br>
              <a:rPr lang="en-US" sz="1400" dirty="0"/>
            </a:br>
            <a:r>
              <a:rPr lang="en-US" sz="1400" dirty="0"/>
              <a:t>d) Increasing depth of tree</a:t>
            </a:r>
            <a:br>
              <a:rPr lang="en-US" sz="1400" dirty="0"/>
            </a:br>
            <a:r>
              <a:rPr lang="en-US" sz="1400" b="1" dirty="0"/>
              <a:t>Answer:</a:t>
            </a:r>
            <a:r>
              <a:rPr lang="en-US" sz="1400" dirty="0"/>
              <a:t> c) Ordering moves to examine the best ones first</a:t>
            </a:r>
          </a:p>
          <a:p>
            <a:r>
              <a:rPr lang="en-US" sz="1400" b="1" dirty="0"/>
              <a:t>Which games are suitable for adversarial search algorithms like minimax?</a:t>
            </a:r>
            <a:br>
              <a:rPr lang="en-US" sz="1400" dirty="0"/>
            </a:br>
            <a:r>
              <a:rPr lang="en-US" sz="1400" dirty="0"/>
              <a:t>a) Single-agent pathfinding</a:t>
            </a:r>
            <a:br>
              <a:rPr lang="en-US" sz="1400" dirty="0"/>
            </a:br>
            <a:r>
              <a:rPr lang="en-US" sz="1400" dirty="0"/>
              <a:t>b) Deterministic turn-based two-player games</a:t>
            </a:r>
            <a:br>
              <a:rPr lang="en-US" sz="1400" dirty="0"/>
            </a:br>
            <a:r>
              <a:rPr lang="en-US" sz="1400" dirty="0"/>
              <a:t>c) Probabilistic board games</a:t>
            </a:r>
            <a:br>
              <a:rPr lang="en-US" sz="1400" dirty="0"/>
            </a:br>
            <a:r>
              <a:rPr lang="en-US" sz="1400" dirty="0"/>
              <a:t>d) Optimization scheduling problems</a:t>
            </a:r>
            <a:br>
              <a:rPr lang="en-US" sz="1400" dirty="0"/>
            </a:br>
            <a:r>
              <a:rPr lang="en-US" sz="1400" b="1" dirty="0"/>
              <a:t>Answer:</a:t>
            </a:r>
            <a:r>
              <a:rPr lang="en-US" sz="1400" dirty="0"/>
              <a:t> b) Deterministic turn-based two-player games</a:t>
            </a:r>
          </a:p>
          <a:p>
            <a:pPr marL="97961" indent="0">
              <a:buNone/>
            </a:pP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181046206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E23510B7-C3A2-E27A-3736-0F10336312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8" name="Google Shape;108;p2">
            <a:extLst>
              <a:ext uri="{FF2B5EF4-FFF2-40B4-BE49-F238E27FC236}">
                <a16:creationId xmlns:a16="http://schemas.microsoft.com/office/drawing/2014/main" id="{78445F02-A161-533C-83C3-5BC21C2F7F4B}"/>
              </a:ext>
            </a:extLst>
          </p:cNvPr>
          <p:cNvGrpSpPr/>
          <p:nvPr/>
        </p:nvGrpSpPr>
        <p:grpSpPr>
          <a:xfrm>
            <a:off x="748145" y="1075422"/>
            <a:ext cx="8277101" cy="444600"/>
            <a:chOff x="0" y="6299"/>
            <a:chExt cx="5580934" cy="444600"/>
          </a:xfrm>
          <a:noFill/>
        </p:grpSpPr>
        <p:sp>
          <p:nvSpPr>
            <p:cNvPr id="109" name="Google Shape;109;p2">
              <a:extLst>
                <a:ext uri="{FF2B5EF4-FFF2-40B4-BE49-F238E27FC236}">
                  <a16:creationId xmlns:a16="http://schemas.microsoft.com/office/drawing/2014/main" id="{20A44487-169C-8822-4CE0-BBB62C89DEBF}"/>
                </a:ext>
              </a:extLst>
            </p:cNvPr>
            <p:cNvSpPr/>
            <p:nvPr/>
          </p:nvSpPr>
          <p:spPr>
            <a:xfrm>
              <a:off x="0" y="6299"/>
              <a:ext cx="5580934" cy="444600"/>
            </a:xfrm>
            <a:prstGeom prst="roundRect">
              <a:avLst>
                <a:gd name="adj" fmla="val 16667"/>
              </a:avLst>
            </a:prstGeom>
            <a:grpFill/>
            <a:ln>
              <a:noFill/>
            </a:ln>
            <a:effectLst>
              <a:outerShdw blurRad="40000" dist="20000" dir="5400000" rotWithShape="0">
                <a:srgbClr val="000000">
                  <a:alpha val="37647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endParaRPr>
                <a:solidFill>
                  <a:schemeClr val="bg2"/>
                </a:solidFill>
              </a:endParaRPr>
            </a:p>
          </p:txBody>
        </p:sp>
        <p:sp>
          <p:nvSpPr>
            <p:cNvPr id="110" name="Google Shape;110;p2">
              <a:extLst>
                <a:ext uri="{FF2B5EF4-FFF2-40B4-BE49-F238E27FC236}">
                  <a16:creationId xmlns:a16="http://schemas.microsoft.com/office/drawing/2014/main" id="{67D92D25-44E7-E9BB-697B-B5F6A519F27B}"/>
                </a:ext>
              </a:extLst>
            </p:cNvPr>
            <p:cNvSpPr txBox="1"/>
            <p:nvPr/>
          </p:nvSpPr>
          <p:spPr>
            <a:xfrm>
              <a:off x="21704" y="28003"/>
              <a:ext cx="5537526" cy="401192"/>
            </a:xfrm>
            <a:prstGeom prst="rect">
              <a:avLst/>
            </a:prstGeom>
            <a:grpFill/>
            <a:ln>
              <a:noFill/>
            </a:ln>
          </p:spPr>
          <p:txBody>
            <a:bodyPr spcFirstLastPara="1" wrap="square" lIns="72375" tIns="72375" rIns="72375" bIns="72375" anchor="ctr" anchorCtr="0">
              <a:noAutofit/>
            </a:bodyPr>
            <a:lstStyle/>
            <a:p>
              <a:pPr algn="ctr">
                <a:lnSpc>
                  <a:spcPct val="90000"/>
                </a:lnSpc>
                <a:buClr>
                  <a:srgbClr val="000000"/>
                </a:buClr>
                <a:buSzPts val="1900"/>
              </a:pPr>
              <a:r>
                <a:rPr lang="en-US" sz="4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Text and R</a:t>
              </a:r>
              <a:r>
                <a:rPr lang="en-US" sz="4000" b="1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  <a:sym typeface="Arial"/>
                </a:rPr>
                <a:t>eference Books</a:t>
              </a:r>
            </a:p>
          </p:txBody>
        </p:sp>
      </p:grpSp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95329CA0-B433-F78D-DDAC-218F49813DA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227927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92" indent="-342892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892" indent="-342892" algn="just">
              <a:lnSpc>
                <a:spcPct val="100000"/>
              </a:lnSpc>
              <a:buNone/>
            </a:pPr>
            <a:r>
              <a:rPr lang="en-US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E730872A-040D-2549-AF98-86A7A4840E43}"/>
              </a:ext>
            </a:extLst>
          </p:cNvPr>
          <p:cNvSpPr txBox="1"/>
          <p:nvPr/>
        </p:nvSpPr>
        <p:spPr>
          <a:xfrm>
            <a:off x="83128" y="1958638"/>
            <a:ext cx="8942119" cy="26604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TEXT BOOKS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T1.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Stuart Russell and Peter Norvig,” Artificial Intelligence: A Modern Approach”, 4th Edition. 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T2.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Kevin Murphy, “Machine Learning: A Probabilistic Perspective”, 2nd Edition</a:t>
            </a: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REFERENCE BOOKS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lnSpc>
                <a:spcPct val="107000"/>
              </a:lnSpc>
              <a:spcAft>
                <a:spcPts val="800"/>
              </a:spcAft>
            </a:pPr>
            <a:r>
              <a:rPr lang="en-US" b="1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R1 </a:t>
            </a:r>
            <a:r>
              <a:rPr lang="en-US" dirty="0">
                <a:latin typeface="Times New Roman" panose="02020603050405020304" pitchFamily="18" charset="0"/>
                <a:ea typeface="Calibri" panose="020F0502020204030204" pitchFamily="34" charset="0"/>
                <a:cs typeface="Mangal" panose="02040503050203030202" pitchFamily="18" charset="0"/>
              </a:rPr>
              <a:t>John D. Kelleher, Brian Mac Namee, and Aoife D'Arcy, “Fundamentals of Machine Learning for Predictive Data Analytics”, 2nd Edition.</a:t>
            </a:r>
            <a:endParaRPr lang="en-IN" dirty="0">
              <a:latin typeface="Calibri" panose="020F0502020204030204" pitchFamily="34" charset="0"/>
              <a:ea typeface="Calibri" panose="020F0502020204030204" pitchFamily="34" charset="0"/>
              <a:cs typeface="Mangal" panose="02040503050203030202" pitchFamily="18" charset="0"/>
            </a:endParaRPr>
          </a:p>
          <a:p>
            <a:pPr>
              <a:buNone/>
            </a:pPr>
            <a:r>
              <a:rPr lang="en-US" b="1" kern="0" dirty="0">
                <a:latin typeface="Times New Roman" panose="02020603050405020304" pitchFamily="18" charset="0"/>
                <a:ea typeface="Calibri" panose="020F0502020204030204" pitchFamily="34" charset="0"/>
              </a:rPr>
              <a:t>R2 </a:t>
            </a:r>
            <a:r>
              <a:rPr lang="en-US" kern="0" dirty="0">
                <a:latin typeface="Times New Roman" panose="02020603050405020304" pitchFamily="18" charset="0"/>
                <a:ea typeface="Calibri" panose="020F0502020204030204" pitchFamily="34" charset="0"/>
              </a:rPr>
              <a:t>Christoph Molnar, “Interpretable Machine Learning”, 2nd </a:t>
            </a:r>
            <a:r>
              <a:rPr lang="en-US" kern="0" dirty="0" err="1">
                <a:latin typeface="Times New Roman" panose="02020603050405020304" pitchFamily="18" charset="0"/>
                <a:ea typeface="Calibri" panose="020F0502020204030204" pitchFamily="34" charset="0"/>
              </a:rPr>
              <a:t>Edition.G</a:t>
            </a:r>
            <a:r>
              <a:rPr lang="en-US" kern="0" dirty="0">
                <a:latin typeface="Times New Roman" panose="02020603050405020304" pitchFamily="18" charset="0"/>
                <a:ea typeface="Calibri" panose="020F0502020204030204" pitchFamily="34" charset="0"/>
              </a:rPr>
              <a:t>.</a:t>
            </a:r>
            <a:r>
              <a:rPr lang="en-US" b="1" kern="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sz="2800" dirty="0">
              <a:solidFill>
                <a:schemeClr val="bg2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  <a:sym typeface="Arial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709004" y="943238"/>
            <a:ext cx="44114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23</a:t>
            </a:r>
          </a:p>
        </p:txBody>
      </p:sp>
    </p:spTree>
    <p:extLst>
      <p:ext uri="{BB962C8B-B14F-4D97-AF65-F5344CB8AC3E}">
        <p14:creationId xmlns:p14="http://schemas.microsoft.com/office/powerpoint/2010/main" val="22947860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7">
          <a:extLst>
            <a:ext uri="{FF2B5EF4-FFF2-40B4-BE49-F238E27FC236}">
              <a16:creationId xmlns:a16="http://schemas.microsoft.com/office/drawing/2014/main" id="{8A55AB18-D4CA-00FD-9048-6518AF6BFB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">
            <a:extLst>
              <a:ext uri="{FF2B5EF4-FFF2-40B4-BE49-F238E27FC236}">
                <a16:creationId xmlns:a16="http://schemas.microsoft.com/office/drawing/2014/main" id="{F1900A86-A15B-28B5-54CA-49F17AC3B9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385500" y="2279275"/>
            <a:ext cx="8001000" cy="29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42892" indent="-342892" algn="just">
              <a:lnSpc>
                <a:spcPct val="100000"/>
              </a:lnSpc>
              <a:spcBef>
                <a:spcPts val="0"/>
              </a:spcBef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1"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marL="342892" indent="-342892" algn="just">
              <a:lnSpc>
                <a:spcPct val="100000"/>
              </a:lnSpc>
              <a:buNone/>
            </a:pPr>
            <a:r>
              <a:rPr lang="en-US" dirty="0">
                <a:solidFill>
                  <a:schemeClr val="bg2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dirty="0">
              <a:solidFill>
                <a:schemeClr val="bg2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113" name="Google Shape;113;p2">
            <a:extLst>
              <a:ext uri="{FF2B5EF4-FFF2-40B4-BE49-F238E27FC236}">
                <a16:creationId xmlns:a16="http://schemas.microsoft.com/office/drawing/2014/main" id="{11F095B4-BE95-F6C7-73C0-ED3F8AB0372C}"/>
              </a:ext>
            </a:extLst>
          </p:cNvPr>
          <p:cNvSpPr txBox="1"/>
          <p:nvPr/>
        </p:nvSpPr>
        <p:spPr>
          <a:xfrm>
            <a:off x="385501" y="3027416"/>
            <a:ext cx="8471559" cy="1200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90000"/>
              </a:lnSpc>
            </a:pPr>
            <a:r>
              <a:rPr lang="en-US" sz="8000" b="1" dirty="0">
                <a:solidFill>
                  <a:srgbClr val="FF0000"/>
                </a:solidFill>
                <a:latin typeface="Vladimir Script" panose="03050402040407070305" pitchFamily="66" charset="0"/>
                <a:ea typeface="Calibri" panose="020F0502020204030204" pitchFamily="34" charset="0"/>
                <a:cs typeface="Calibri" panose="020F0502020204030204" pitchFamily="34" charset="0"/>
                <a:sym typeface="Arial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86127203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813</TotalTime>
  <Words>1343</Words>
  <Application>Microsoft Office PowerPoint</Application>
  <PresentationFormat>On-screen Show (4:3)</PresentationFormat>
  <Paragraphs>150</Paragraphs>
  <Slides>19</Slides>
  <Notes>11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Links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9" baseType="lpstr">
      <vt:lpstr>Arial</vt:lpstr>
      <vt:lpstr>Calibri</vt:lpstr>
      <vt:lpstr>Cambria</vt:lpstr>
      <vt:lpstr>Lucida Grande</vt:lpstr>
      <vt:lpstr>Symbol</vt:lpstr>
      <vt:lpstr>Times New Roman</vt:lpstr>
      <vt:lpstr>Vladimir Script</vt:lpstr>
      <vt:lpstr>Wingdings</vt:lpstr>
      <vt:lpstr>1_Office Theme</vt:lpstr>
      <vt:lpstr>Macintosh%20HD:Users:olivernew:Documents:svn-projects:My%20Classes:310:2011:myslides:intro-choice.doc!OLE_LINK1</vt:lpstr>
      <vt:lpstr>PowerPoint Presentation</vt:lpstr>
      <vt:lpstr>PowerPoint Presentation</vt:lpstr>
      <vt:lpstr>AI Games vs. Economics Game Theory</vt:lpstr>
      <vt:lpstr>Example: The Prisoner’s Dilemma</vt:lpstr>
      <vt:lpstr>Solving Zero-Sum Games</vt:lpstr>
      <vt:lpstr>Matching Pennies</vt:lpstr>
      <vt:lpstr>Nonzero Sum Game Trees</vt:lpstr>
      <vt:lpstr>Backward Induction Example: Hume’s Farmer Problem</vt:lpstr>
      <vt:lpstr>Summary: Solving Games</vt:lpstr>
      <vt:lpstr>Single Agent vs. 2-Players</vt:lpstr>
      <vt:lpstr>Single Agent Design = Game Theory</vt:lpstr>
      <vt:lpstr>Example: And-Or Trees</vt:lpstr>
      <vt:lpstr>And-Or Tree for the Erratic Vacuum</vt:lpstr>
      <vt:lpstr>Summary</vt:lpstr>
      <vt:lpstr>QUIZ</vt:lpstr>
      <vt:lpstr>PowerPoint Presentation</vt:lpstr>
      <vt:lpstr>PowerPoint Presentation</vt:lpstr>
      <vt:lpstr>PowerPoint Presentation</vt:lpstr>
      <vt:lpstr>PowerPoint Presentation</vt:lpstr>
    </vt:vector>
  </TitlesOfParts>
  <Company>Simon Fraser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Adversarial Search and Game-Playing</dc:title>
  <dc:creator>aaa78</dc:creator>
  <cp:lastModifiedBy>nisha sharma</cp:lastModifiedBy>
  <cp:revision>78</cp:revision>
  <dcterms:created xsi:type="dcterms:W3CDTF">2011-06-27T06:09:23Z</dcterms:created>
  <dcterms:modified xsi:type="dcterms:W3CDTF">2025-06-09T07:09:07Z</dcterms:modified>
</cp:coreProperties>
</file>