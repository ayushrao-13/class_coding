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6" r:id="rId1"/>
  </p:sldMasterIdLst>
  <p:notesMasterIdLst>
    <p:notesMasterId r:id="rId25"/>
  </p:notesMasterIdLst>
  <p:sldIdLst>
    <p:sldId id="323" r:id="rId2"/>
    <p:sldId id="31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300" r:id="rId18"/>
    <p:sldId id="311" r:id="rId19"/>
    <p:sldId id="316" r:id="rId20"/>
    <p:sldId id="318" r:id="rId21"/>
    <p:sldId id="319" r:id="rId22"/>
    <p:sldId id="321" r:id="rId23"/>
    <p:sldId id="322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6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E99945AA-4EB5-FF45-B438-C186DCDD9F82}" type="datetime1">
              <a:rPr lang="en-US"/>
              <a:pPr/>
              <a:t>6/9/2025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71E87EEF-40E4-CC48-970D-FDFF18882FC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AF8D011-1978-0123-5CB2-07F25948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F30FEB0-AB40-4EED-9FDB-BD2BDC5B1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0132642-52DF-B83A-52A1-4C0392323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1119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1C4E793-296E-2643-A421-9EFAC40A5E81}" type="slidenum">
              <a:rPr lang="en-US"/>
              <a:pPr/>
              <a:t>3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5874D22-D754-FA40-ABF2-B4D2C0DB2756}" type="slidenum">
              <a:rPr lang="en-US"/>
              <a:pPr/>
              <a:t>4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2859A87-B2AB-6A4A-94A5-0CCFB5249CFA}" type="slidenum">
              <a:rPr lang="en-US"/>
              <a:pPr/>
              <a:t>5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34FB97F-82F4-E44F-8546-2F721B027E13}" type="slidenum">
              <a:rPr lang="en-US"/>
              <a:pPr/>
              <a:t>6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25F367B-BA00-3A4E-A72F-F2C9A47BB299}" type="slidenum">
              <a:rPr lang="en-US"/>
              <a:pPr/>
              <a:t>7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C43E5BC-CDE0-A140-8495-B0B1B28F3323}" type="slidenum">
              <a:rPr lang="en-US"/>
              <a:pPr/>
              <a:t>8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FCE115B-C5DA-264A-B646-9AE9FE25AE0A}" type="slidenum">
              <a:rPr lang="en-US"/>
              <a:pPr/>
              <a:t>9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0880E8B-249C-9543-BF79-9D36C044F587}" type="slidenum">
              <a:rPr lang="en-US"/>
              <a:pPr/>
              <a:t>10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BA864C-E329-CE42-969C-9CE22AD2AC29}" type="slidenum">
              <a:rPr lang="en-US"/>
              <a:pPr/>
              <a:t>11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C0969DE-27DA-6D4A-A219-56227D248BC8}" type="slidenum">
              <a:rPr lang="en-US"/>
              <a:pPr/>
              <a:t>12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A5FDA80-D149-2741-9F62-3082FDE79B60}" type="slidenum">
              <a:rPr lang="en-US"/>
              <a:pPr/>
              <a:t>13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F48E050-4875-104A-A91B-B56C5A1869C9}" type="slidenum">
              <a:rPr lang="en-US"/>
              <a:pPr/>
              <a:t>14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6C2FA96-8484-494A-97DA-D40CF98839E5}" type="slidenum">
              <a:rPr lang="en-US"/>
              <a:pPr/>
              <a:t>15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74DBA81-5A07-9D4E-AE57-B19CF14067C6}" type="slidenum">
              <a:rPr lang="en-US"/>
              <a:pPr/>
              <a:t>16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0488" tIns="44450" rIns="90488" bIns="44450"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23F36BF-CFBA-614A-BA24-D83A27D4101F}" type="slidenum">
              <a:rPr lang="en-US"/>
              <a:pPr/>
              <a:t>17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/>
              <a:t>Nothing actually.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845EE78-55B3-1E4D-ABCB-CF80ABACC851}" type="slidenum">
              <a:rPr lang="en-US"/>
              <a:pPr/>
              <a:t>18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0488" tIns="44450" rIns="90488" bIns="44450"/>
          <a:lstStyle/>
          <a:p>
            <a:pPr eaLnBrk="1" hangingPunct="1">
              <a:spcBef>
                <a:spcPct val="0"/>
              </a:spcBef>
            </a:pPr>
            <a:r>
              <a:rPr lang="en-US"/>
              <a:t>Add something on retrograde analysis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36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172" y="1604399"/>
            <a:ext cx="8228763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136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172" y="1604399"/>
            <a:ext cx="8228763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674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172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3928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269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216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172" y="273423"/>
            <a:ext cx="8228763" cy="53073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500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3928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172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083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172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3928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3928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946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3928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172" y="3681628"/>
            <a:ext cx="822876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528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822876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172" y="3681628"/>
            <a:ext cx="822876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482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3928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172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3928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1271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388" y="1604400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1278" y="1604400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172" y="3681628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388" y="3681628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1278" y="3681628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4642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F17E8-9059-4403-FB6D-9B31E85B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1CDA0-383D-79C7-65E6-44EA531C5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FACE1-34CE-1D89-30DA-0A7D2F17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D2E8-BC67-4547-9856-7D9D7BE0482E}" type="datetime1">
              <a:rPr lang="en-IN" smtClean="0"/>
              <a:t>09-06-2025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8BA4F-17B9-909B-5DBB-B047756B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E7A1B-4050-EF22-F5E1-FA77841B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F22-E9B2-EA44-BA9B-AE1C427D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10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marR="0" lvl="0" indent="-38099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378" marR="0" lvl="1" indent="-35559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566" marR="0" lvl="2" indent="-35559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754" marR="0" lvl="3" indent="-342892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943" marR="0" lvl="4" indent="-342892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132" marR="0" lvl="5" indent="-35559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320" marR="0" lvl="6" indent="-35559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509" marR="0" lvl="7" indent="-35559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697" marR="0" lvl="8" indent="-355591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7" y="29380"/>
            <a:ext cx="652311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6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6845" y="272987"/>
            <a:ext cx="8228437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3991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6845" y="1603964"/>
            <a:ext cx="8228437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903" b="0" strike="noStrike" spc="-1">
                <a:latin typeface="Arial"/>
              </a:rPr>
              <a:t>Click to edit the outline text format</a:t>
            </a:r>
          </a:p>
          <a:p>
            <a:pPr marL="783692" lvl="1" indent="-293885">
              <a:spcBef>
                <a:spcPts val="102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540" b="0" strike="noStrike" spc="-1">
                <a:latin typeface="Arial"/>
              </a:rPr>
              <a:t>Second Outline Level</a:t>
            </a:r>
          </a:p>
          <a:p>
            <a:pPr marL="1175537" lvl="2" indent="-261230">
              <a:spcBef>
                <a:spcPts val="77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77" b="0" strike="noStrike" spc="-1">
                <a:latin typeface="Arial"/>
              </a:rPr>
              <a:t>Third Outline Level</a:t>
            </a:r>
          </a:p>
          <a:p>
            <a:pPr marL="1567382" lvl="3" indent="-195923">
              <a:spcBef>
                <a:spcPts val="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14" b="0" strike="noStrike" spc="-1">
                <a:latin typeface="Arial"/>
              </a:rPr>
              <a:t>Fourth Outline Level</a:t>
            </a:r>
          </a:p>
          <a:p>
            <a:pPr marL="1959228" lvl="4" indent="-195923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14" b="0" strike="noStrike" spc="-1">
                <a:latin typeface="Arial"/>
              </a:rPr>
              <a:t>Fifth Outline Level</a:t>
            </a:r>
          </a:p>
          <a:p>
            <a:pPr marL="2351074" lvl="5" indent="-195923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14" b="0" strike="noStrike" spc="-1">
                <a:latin typeface="Arial"/>
              </a:rPr>
              <a:t>Sixth Outline Level</a:t>
            </a:r>
          </a:p>
          <a:p>
            <a:pPr marL="2742920" lvl="6" indent="-195923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14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41702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10" r:id="rId13"/>
    <p:sldLayoutId id="2147483811" r:id="rId14"/>
  </p:sldLayoutIdLst>
  <p:hf sldNum="0" hdr="0" ftr="0" dt="0"/>
  <p:txStyles>
    <p:titleStyle>
      <a:lvl1pPr algn="l" defTabSz="829406" rtl="0" eaLnBrk="1" latinLnBrk="0" hangingPunct="1">
        <a:lnSpc>
          <a:spcPct val="90000"/>
        </a:lnSpc>
        <a:spcBef>
          <a:spcPct val="0"/>
        </a:spcBef>
        <a:buNone/>
        <a:defRPr sz="39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000" indent="-243000" algn="l" defTabSz="829406" rtl="0" eaLnBrk="1" latinLnBrk="0" hangingPunct="1">
        <a:lnSpc>
          <a:spcPct val="90000"/>
        </a:lnSpc>
        <a:spcBef>
          <a:spcPts val="1061"/>
        </a:spcBef>
        <a:buClr>
          <a:srgbClr val="000000"/>
        </a:buClr>
        <a:buSzPct val="45000"/>
        <a:buFont typeface="Wingdings" charset="2"/>
        <a:buChar char=""/>
        <a:defRPr sz="2540" kern="1200">
          <a:solidFill>
            <a:schemeClr val="tx1"/>
          </a:solidFill>
          <a:latin typeface="+mn-lt"/>
          <a:ea typeface="+mn-ea"/>
          <a:cs typeface="+mn-cs"/>
        </a:defRPr>
      </a:lvl1pPr>
      <a:lvl2pPr marL="622055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2pPr>
      <a:lvl3pPr marL="1036758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3pPr>
      <a:lvl4pPr marL="1451462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866165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280868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695571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3110275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524978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04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40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11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8813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51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22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2923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762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cf.berkeley.edu/~yosenl/extras/alphabeta/alphabeta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8" y="2074768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573881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514481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237639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47865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1808835"/>
            <a:ext cx="8213400" cy="4020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COMPUTING</a:t>
            </a:r>
            <a:endParaRPr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MCA</a:t>
            </a:r>
            <a:endParaRPr lang="en-IN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Master of Computer Applications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AIML/ 1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Intelligence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(25CAT-613)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                    Chapter No.                     Lecture No.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________3___________________1_________________37-40________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NISHA SHARMA and E2915                                                     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Designation:AP</a:t>
            </a:r>
            <a:endParaRPr lang="en-US" sz="32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2954550" y="857250"/>
            <a:ext cx="41836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BED8776-82A9-C3BD-5844-FF054051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D89AB046-BF5D-9FB0-A377-F7F7D02D466C}"/>
              </a:ext>
            </a:extLst>
          </p:cNvPr>
          <p:cNvSpPr/>
          <p:nvPr/>
        </p:nvSpPr>
        <p:spPr>
          <a:xfrm>
            <a:off x="748146" y="1049678"/>
            <a:ext cx="8277101" cy="444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C9CDB22-B6A6-EEC4-E538-5F62E6804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227927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92" indent="-342892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892" indent="-342892" algn="just">
              <a:lnSpc>
                <a:spcPct val="100000"/>
              </a:lnSpc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C2F18147-F4D1-809E-DBDD-99CA1B0616F6}"/>
              </a:ext>
            </a:extLst>
          </p:cNvPr>
          <p:cNvSpPr txBox="1"/>
          <p:nvPr/>
        </p:nvSpPr>
        <p:spPr>
          <a:xfrm>
            <a:off x="83128" y="1958638"/>
            <a:ext cx="8942119" cy="366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639" algn="ctr">
              <a:lnSpc>
                <a:spcPts val="1370"/>
              </a:lnSpc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639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LO1: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</a:t>
            </a:r>
            <a:r>
              <a:rPr lang="en-US" sz="2400" b="1" spc="1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spc="1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foundational</a:t>
            </a:r>
            <a:r>
              <a:rPr lang="en-US" sz="2400" b="1" spc="1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</a:t>
            </a:r>
            <a:r>
              <a:rPr lang="en-US" sz="2400" b="1" spc="1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IN" sz="2400" b="1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(AI)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concepts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400"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LO2:</a:t>
            </a:r>
            <a:r>
              <a:rPr lang="en-US" sz="2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and</a:t>
            </a:r>
            <a:r>
              <a:rPr lang="en-US" sz="2400"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formulate</a:t>
            </a:r>
            <a:r>
              <a:rPr lang="en-US" sz="2400" b="1" spc="-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single-agent</a:t>
            </a:r>
            <a:r>
              <a:rPr lang="en-US" sz="2400"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problems in state space representation.</a:t>
            </a:r>
            <a:endParaRPr lang="en-US" sz="24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LO3:</a:t>
            </a:r>
            <a:r>
              <a:rPr lang="en-US" sz="2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various search algorithms to solve problems using Python.</a:t>
            </a: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LO4: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the efficiency and effectiveness of different search algorithms based on problem characteristics</a:t>
            </a: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LO5: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Developing</a:t>
            </a:r>
            <a:r>
              <a:rPr lang="en-US" sz="2400" b="1" spc="-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US" sz="2400" b="1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agents that can</a:t>
            </a:r>
            <a:r>
              <a:rPr lang="en-US" sz="2400" b="1" spc="-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</a:t>
            </a:r>
            <a:r>
              <a:rPr lang="en-US" sz="2400" b="1" spc="-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games by</a:t>
            </a:r>
            <a:r>
              <a:rPr lang="en-US" sz="2400" b="1" spc="3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utilizing</a:t>
            </a:r>
            <a:r>
              <a:rPr lang="en-US" sz="2400" b="1" spc="3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en-US" sz="2400" b="1" spc="3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</a:t>
            </a:r>
            <a:r>
              <a:rPr lang="en-US" sz="2400" b="1" spc="3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400" b="1" spc="29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4" y="943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  <p:grpSp>
        <p:nvGrpSpPr>
          <p:cNvPr id="2" name="Google Shape;108;p2">
            <a:extLst>
              <a:ext uri="{FF2B5EF4-FFF2-40B4-BE49-F238E27FC236}">
                <a16:creationId xmlns:a16="http://schemas.microsoft.com/office/drawing/2014/main" id="{CB1F709E-6E3A-773D-623E-2A747E5DBB44}"/>
              </a:ext>
            </a:extLst>
          </p:cNvPr>
          <p:cNvGrpSpPr/>
          <p:nvPr/>
        </p:nvGrpSpPr>
        <p:grpSpPr>
          <a:xfrm>
            <a:off x="639161" y="1448583"/>
            <a:ext cx="6776613" cy="333450"/>
            <a:chOff x="0" y="6299"/>
            <a:chExt cx="6074853" cy="444600"/>
          </a:xfrm>
          <a:noFill/>
        </p:grpSpPr>
        <p:sp>
          <p:nvSpPr>
            <p:cNvPr id="3" name="Google Shape;109;p2">
              <a:extLst>
                <a:ext uri="{FF2B5EF4-FFF2-40B4-BE49-F238E27FC236}">
                  <a16:creationId xmlns:a16="http://schemas.microsoft.com/office/drawing/2014/main" id="{84514D92-4BCF-4C6B-939B-9FA0BC5B292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4" name="Google Shape;110;p2">
              <a:extLst>
                <a:ext uri="{FF2B5EF4-FFF2-40B4-BE49-F238E27FC236}">
                  <a16:creationId xmlns:a16="http://schemas.microsoft.com/office/drawing/2014/main" id="{1BFC8397-E063-69C5-467E-69EF194EB152}"/>
                </a:ext>
              </a:extLst>
            </p:cNvPr>
            <p:cNvSpPr txBox="1"/>
            <p:nvPr/>
          </p:nvSpPr>
          <p:spPr>
            <a:xfrm>
              <a:off x="537327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4281" tIns="54281" rIns="54281" bIns="54281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</a:pP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</a:t>
              </a:r>
              <a:r>
                <a:rPr lang="en-US" sz="3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</a:t>
              </a: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Objectives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037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762000"/>
            <a:ext cx="7923282" cy="1066800"/>
          </a:xfrm>
        </p:spPr>
        <p:txBody>
          <a:bodyPr/>
          <a:lstStyle/>
          <a:p>
            <a:pPr eaLnBrk="1" hangingPunct="1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problem with minimax search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2438400"/>
            <a:ext cx="7389882" cy="3142383"/>
          </a:xfrm>
        </p:spPr>
        <p:txBody>
          <a:bodyPr/>
          <a:lstStyle/>
          <a:p>
            <a:pPr eaLnBrk="1" hangingPunct="1"/>
            <a:r>
              <a:rPr lang="en-US" sz="2400" dirty="0"/>
              <a:t>Number of game states is exponential in the number of moves.</a:t>
            </a:r>
          </a:p>
          <a:p>
            <a:pPr lvl="1" eaLnBrk="1" hangingPunct="1"/>
            <a:r>
              <a:rPr lang="en-US" sz="2400" dirty="0"/>
              <a:t>Solution: Do not examine every node </a:t>
            </a:r>
          </a:p>
          <a:p>
            <a:pPr lvl="1" eaLnBrk="1" hangingPunct="1">
              <a:buFontTx/>
              <a:buNone/>
            </a:pPr>
            <a:r>
              <a:rPr lang="en-US" sz="2400" dirty="0"/>
              <a:t> =&gt; pruning</a:t>
            </a:r>
          </a:p>
          <a:p>
            <a:pPr lvl="2" eaLnBrk="1" hangingPunct="1"/>
            <a:r>
              <a:rPr lang="en-US" sz="2400" dirty="0"/>
              <a:t>Remove branches that do not influence final decision</a:t>
            </a:r>
          </a:p>
          <a:p>
            <a:pPr lvl="2" eaLnBrk="1" hangingPunct="1"/>
            <a:endParaRPr lang="en-US" sz="2400" dirty="0"/>
          </a:p>
          <a:p>
            <a:pPr eaLnBrk="1" hangingPunct="1"/>
            <a:r>
              <a:rPr lang="en-US" sz="2400" dirty="0"/>
              <a:t>Revisit example …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73423"/>
            <a:ext cx="6933335" cy="1144631"/>
          </a:xfrm>
        </p:spPr>
        <p:txBody>
          <a:bodyPr/>
          <a:lstStyle/>
          <a:p>
            <a:pPr eaLnBrk="1" hangingPunct="1"/>
            <a:r>
              <a:rPr lang="en-US" dirty="0"/>
              <a:t>Alpha-Beta Example</a:t>
            </a:r>
          </a:p>
        </p:txBody>
      </p:sp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1905000"/>
            <a:ext cx="7010400" cy="42592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3429000" y="5638800"/>
            <a:ext cx="2362200" cy="3810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3505200" y="3794125"/>
            <a:ext cx="10683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[-∞, +∞]</a:t>
            </a:r>
          </a:p>
        </p:txBody>
      </p:sp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5867400" y="2514600"/>
            <a:ext cx="10048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[-∞,+∞]</a:t>
            </a:r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4953000" y="3810000"/>
            <a:ext cx="2362200" cy="3810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7315200" y="2438400"/>
            <a:ext cx="533400" cy="3810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59401" name="Oval 9"/>
          <p:cNvSpPr>
            <a:spLocks noChangeArrowheads="1"/>
          </p:cNvSpPr>
          <p:nvPr/>
        </p:nvSpPr>
        <p:spPr bwMode="auto">
          <a:xfrm>
            <a:off x="5638800" y="2438400"/>
            <a:ext cx="1447800" cy="6858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4267200" y="2133600"/>
            <a:ext cx="311785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 i="1">
                <a:solidFill>
                  <a:srgbClr val="FF0000"/>
                </a:solidFill>
                <a:latin typeface="Courier" charset="0"/>
              </a:rPr>
              <a:t>Range of possible values</a:t>
            </a:r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1833562" y="1537852"/>
            <a:ext cx="3343275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Verdana" charset="0"/>
              </a:rPr>
              <a:t>Do DF-search until first leaf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/>
              <a:t>Alpha-Beta Example (continued)</a:t>
            </a:r>
            <a:endParaRPr lang="en-US"/>
          </a:p>
        </p:txBody>
      </p:sp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1752600"/>
            <a:ext cx="7010400" cy="42592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4495800" y="5486400"/>
            <a:ext cx="1295400" cy="3810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3552825" y="3641725"/>
            <a:ext cx="8080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charset="0"/>
              </a:rPr>
              <a:t>[-∞,3]</a:t>
            </a:r>
            <a:endParaRPr lang="en-US" sz="2400" b="1">
              <a:latin typeface="Times New Roman" charset="0"/>
            </a:endParaRPr>
          </a:p>
        </p:txBody>
      </p:sp>
      <p:sp>
        <p:nvSpPr>
          <p:cNvPr id="61446" name="Text Box 6"/>
          <p:cNvSpPr txBox="1">
            <a:spLocks noChangeArrowheads="1"/>
          </p:cNvSpPr>
          <p:nvPr/>
        </p:nvSpPr>
        <p:spPr bwMode="auto">
          <a:xfrm>
            <a:off x="5867400" y="2362200"/>
            <a:ext cx="10048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[-∞,+∞]</a:t>
            </a:r>
          </a:p>
        </p:txBody>
      </p:sp>
      <p:grpSp>
        <p:nvGrpSpPr>
          <p:cNvPr id="61447" name="Group 7"/>
          <p:cNvGrpSpPr>
            <a:grpSpLocks/>
          </p:cNvGrpSpPr>
          <p:nvPr/>
        </p:nvGrpSpPr>
        <p:grpSpPr bwMode="auto">
          <a:xfrm>
            <a:off x="4965700" y="3643313"/>
            <a:ext cx="444500" cy="319087"/>
            <a:chOff x="3128" y="2583"/>
            <a:chExt cx="280" cy="201"/>
          </a:xfrm>
        </p:grpSpPr>
        <p:pic>
          <p:nvPicPr>
            <p:cNvPr id="61448" name="Picture 8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128" y="2592"/>
              <a:ext cx="164" cy="19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61449" name="Picture 9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260" y="2583"/>
              <a:ext cx="148" cy="20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/>
              <a:t>Alpha-Beta Example (continued)</a:t>
            </a:r>
            <a:endParaRPr lang="en-US"/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1828800"/>
            <a:ext cx="7010400" cy="42592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3552825" y="3717925"/>
            <a:ext cx="8080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[-∞,3]</a:t>
            </a:r>
            <a:endParaRPr lang="en-US" sz="2400" b="1">
              <a:latin typeface="Times New Roman" charset="0"/>
            </a:endParaRP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5867400" y="2438400"/>
            <a:ext cx="10048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[-∞,+∞]</a:t>
            </a:r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5410200" y="5562600"/>
            <a:ext cx="457200" cy="3810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grpSp>
        <p:nvGrpSpPr>
          <p:cNvPr id="63495" name="Group 7"/>
          <p:cNvGrpSpPr>
            <a:grpSpLocks/>
          </p:cNvGrpSpPr>
          <p:nvPr/>
        </p:nvGrpSpPr>
        <p:grpSpPr bwMode="auto">
          <a:xfrm>
            <a:off x="4965700" y="3719513"/>
            <a:ext cx="444500" cy="319087"/>
            <a:chOff x="3128" y="2583"/>
            <a:chExt cx="280" cy="201"/>
          </a:xfrm>
        </p:grpSpPr>
        <p:pic>
          <p:nvPicPr>
            <p:cNvPr id="63496" name="Picture 8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128" y="2592"/>
              <a:ext cx="164" cy="19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63497" name="Picture 9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260" y="2583"/>
              <a:ext cx="148" cy="20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/>
              <a:t>Alpha-Beta Example (continued)</a:t>
            </a:r>
            <a:endParaRPr lang="en-US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1600200"/>
            <a:ext cx="7010400" cy="42592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5867400" y="2209800"/>
            <a:ext cx="8667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charset="0"/>
              </a:rPr>
              <a:t>[3,+∞]</a:t>
            </a:r>
            <a:endParaRPr lang="en-US" sz="2000">
              <a:latin typeface="Times New Roman" charset="0"/>
            </a:endParaRPr>
          </a:p>
        </p:txBody>
      </p:sp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3733800" y="3489325"/>
            <a:ext cx="669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charset="0"/>
              </a:rPr>
              <a:t>[3,3]</a:t>
            </a:r>
            <a:endParaRPr lang="en-US" sz="2000">
              <a:latin typeface="Times New Roman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/>
              <a:t>Alpha-Beta Example (continued)</a:t>
            </a:r>
            <a:endParaRPr lang="en-US"/>
          </a:p>
        </p:txBody>
      </p:sp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0475" y="1600200"/>
            <a:ext cx="6819900" cy="4367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5299075" y="3465513"/>
            <a:ext cx="8080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charset="0"/>
              </a:rPr>
              <a:t>[-∞,2]</a:t>
            </a:r>
            <a:endParaRPr lang="en-US" sz="2400" b="1">
              <a:latin typeface="Times New Roman" charset="0"/>
            </a:endParaRPr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5222875" y="2185988"/>
            <a:ext cx="8667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[3,+∞]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3089275" y="3465513"/>
            <a:ext cx="669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[3,3]</a:t>
            </a:r>
          </a:p>
        </p:txBody>
      </p:sp>
      <p:sp>
        <p:nvSpPr>
          <p:cNvPr id="67591" name="Oval 7"/>
          <p:cNvSpPr>
            <a:spLocks noChangeArrowheads="1"/>
          </p:cNvSpPr>
          <p:nvPr/>
        </p:nvSpPr>
        <p:spPr bwMode="auto">
          <a:xfrm>
            <a:off x="4994275" y="3252788"/>
            <a:ext cx="2438400" cy="9144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6365875" y="2474913"/>
            <a:ext cx="2778125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FF0000"/>
                </a:solidFill>
                <a:latin typeface="Courier" charset="0"/>
              </a:rPr>
              <a:t>This node is worse </a:t>
            </a:r>
          </a:p>
          <a:p>
            <a:r>
              <a:rPr lang="en-US" i="1">
                <a:solidFill>
                  <a:srgbClr val="FF0000"/>
                </a:solidFill>
                <a:latin typeface="Courier" charset="0"/>
              </a:rPr>
              <a:t>for MAX</a:t>
            </a:r>
            <a:endParaRPr lang="en-US" sz="2400" b="1">
              <a:latin typeface="Times New Roman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/>
              <a:t>Alpha-Beta Example (continued)</a:t>
            </a:r>
            <a:endParaRPr lang="en-US"/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362200"/>
            <a:ext cx="7391400" cy="32464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4619625" y="3641725"/>
            <a:ext cx="8080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[-∞,2]</a:t>
            </a:r>
            <a:endParaRPr lang="en-US" sz="2400" b="1">
              <a:latin typeface="Times New Roman" charset="0"/>
            </a:endParaRPr>
          </a:p>
        </p:txBody>
      </p:sp>
      <p:sp>
        <p:nvSpPr>
          <p:cNvPr id="69637" name="Text Box 5"/>
          <p:cNvSpPr txBox="1">
            <a:spLocks noChangeArrowheads="1"/>
          </p:cNvSpPr>
          <p:nvPr/>
        </p:nvSpPr>
        <p:spPr bwMode="auto">
          <a:xfrm>
            <a:off x="4613275" y="2514600"/>
            <a:ext cx="796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[3,14]</a:t>
            </a: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2682875" y="3641725"/>
            <a:ext cx="669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[3,3]</a:t>
            </a: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6400800" y="3641725"/>
            <a:ext cx="9350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charset="0"/>
              </a:rPr>
              <a:t>[-∞,14]</a:t>
            </a:r>
            <a:endParaRPr lang="en-US" sz="2400" b="1">
              <a:solidFill>
                <a:srgbClr val="FF0000"/>
              </a:solidFill>
              <a:latin typeface="Times New Roman" charset="0"/>
            </a:endParaRPr>
          </a:p>
        </p:txBody>
      </p:sp>
      <p:pic>
        <p:nvPicPr>
          <p:cNvPr id="6964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4600" y="2509838"/>
            <a:ext cx="685800" cy="3857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6156325" y="2438400"/>
            <a:ext cx="3206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 charset="0"/>
              </a:rPr>
              <a:t>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/>
              <a:t>Alpha-Beta Example (continued)</a:t>
            </a:r>
            <a:endParaRPr lang="en-US"/>
          </a:p>
        </p:txBody>
      </p:sp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405063"/>
            <a:ext cx="7539038" cy="31718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4619625" y="3641725"/>
            <a:ext cx="8509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[−∞,2]</a:t>
            </a:r>
            <a:endParaRPr lang="en-US" sz="2400" b="1">
              <a:latin typeface="Times New Roman" charset="0"/>
            </a:endParaRPr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4816475" y="2498725"/>
            <a:ext cx="669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[3,5]</a:t>
            </a: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2409825" y="3641725"/>
            <a:ext cx="669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[3,3]</a:t>
            </a:r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6600825" y="3641725"/>
            <a:ext cx="8080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charset="0"/>
              </a:rPr>
              <a:t>[-∞,5]</a:t>
            </a:r>
            <a:endParaRPr lang="en-US" sz="2400" b="1">
              <a:latin typeface="Times New Roman" charset="0"/>
            </a:endParaRPr>
          </a:p>
        </p:txBody>
      </p:sp>
      <p:pic>
        <p:nvPicPr>
          <p:cNvPr id="71688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11913" y="2419350"/>
            <a:ext cx="52228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71689" name="Rectangle 9"/>
          <p:cNvSpPr>
            <a:spLocks noChangeArrowheads="1"/>
          </p:cNvSpPr>
          <p:nvPr/>
        </p:nvSpPr>
        <p:spPr bwMode="auto">
          <a:xfrm>
            <a:off x="6216650" y="2438400"/>
            <a:ext cx="260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 charset="0"/>
              </a:rPr>
              <a:t>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/>
              <a:t>Alpha-Beta Example (continued)</a:t>
            </a:r>
            <a:endParaRPr lang="en-US"/>
          </a:p>
        </p:txBody>
      </p:sp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2346325"/>
            <a:ext cx="7467600" cy="2987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6172200" y="3413125"/>
            <a:ext cx="669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charset="0"/>
              </a:rPr>
              <a:t>[2,2]</a:t>
            </a:r>
            <a:endParaRPr lang="en-US" sz="2400" b="1">
              <a:latin typeface="Times New Roman" charset="0"/>
            </a:endParaRP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4267200" y="3429000"/>
            <a:ext cx="8509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[−∞,2]</a:t>
            </a:r>
            <a:endParaRPr lang="en-US" sz="2400" b="1">
              <a:latin typeface="Times New Roman" charset="0"/>
            </a:endParaRPr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4464050" y="2422525"/>
            <a:ext cx="669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charset="0"/>
              </a:rPr>
              <a:t>[3,3]</a:t>
            </a:r>
            <a:endParaRPr lang="en-US" sz="2000">
              <a:latin typeface="Times New Roman" charset="0"/>
            </a:endParaRPr>
          </a:p>
        </p:txBody>
      </p:sp>
      <p:sp>
        <p:nvSpPr>
          <p:cNvPr id="73735" name="Text Box 7"/>
          <p:cNvSpPr txBox="1">
            <a:spLocks noChangeArrowheads="1"/>
          </p:cNvSpPr>
          <p:nvPr/>
        </p:nvSpPr>
        <p:spPr bwMode="auto">
          <a:xfrm>
            <a:off x="2530475" y="3429000"/>
            <a:ext cx="669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[3,3]</a:t>
            </a:r>
          </a:p>
        </p:txBody>
      </p:sp>
      <p:pic>
        <p:nvPicPr>
          <p:cNvPr id="73736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10200" y="2398713"/>
            <a:ext cx="685800" cy="3159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/>
              <a:t>Alpha-Beta Example (continued)</a:t>
            </a:r>
            <a:endParaRPr lang="en-US"/>
          </a:p>
        </p:txBody>
      </p:sp>
      <p:pic>
        <p:nvPicPr>
          <p:cNvPr id="757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2346325"/>
            <a:ext cx="7467600" cy="2987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6172200" y="3413125"/>
            <a:ext cx="669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[2,2]</a:t>
            </a:r>
            <a:endParaRPr lang="en-US" sz="2400" b="1">
              <a:latin typeface="Times New Roman" charset="0"/>
            </a:endParaRPr>
          </a:p>
        </p:txBody>
      </p:sp>
      <p:sp>
        <p:nvSpPr>
          <p:cNvPr id="75781" name="Text Box 5"/>
          <p:cNvSpPr txBox="1">
            <a:spLocks noChangeArrowheads="1"/>
          </p:cNvSpPr>
          <p:nvPr/>
        </p:nvSpPr>
        <p:spPr bwMode="auto">
          <a:xfrm>
            <a:off x="4267200" y="3429000"/>
            <a:ext cx="8080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[-∞,2]</a:t>
            </a:r>
            <a:endParaRPr lang="en-US" sz="2400" b="1">
              <a:latin typeface="Times New Roman" charset="0"/>
            </a:endParaRPr>
          </a:p>
        </p:txBody>
      </p:sp>
      <p:sp>
        <p:nvSpPr>
          <p:cNvPr id="75782" name="Text Box 6"/>
          <p:cNvSpPr txBox="1">
            <a:spLocks noChangeArrowheads="1"/>
          </p:cNvSpPr>
          <p:nvPr/>
        </p:nvSpPr>
        <p:spPr bwMode="auto">
          <a:xfrm>
            <a:off x="4464050" y="2422525"/>
            <a:ext cx="669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[3,3]</a:t>
            </a:r>
          </a:p>
        </p:txBody>
      </p:sp>
      <p:sp>
        <p:nvSpPr>
          <p:cNvPr id="75783" name="Text Box 7"/>
          <p:cNvSpPr txBox="1">
            <a:spLocks noChangeArrowheads="1"/>
          </p:cNvSpPr>
          <p:nvPr/>
        </p:nvSpPr>
        <p:spPr bwMode="auto">
          <a:xfrm>
            <a:off x="2530475" y="3429000"/>
            <a:ext cx="6699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charset="0"/>
              </a:rPr>
              <a:t>[3,3]</a:t>
            </a:r>
          </a:p>
        </p:txBody>
      </p:sp>
      <p:pic>
        <p:nvPicPr>
          <p:cNvPr id="75784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10200" y="2398713"/>
            <a:ext cx="685800" cy="3159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75785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86400" y="2498725"/>
            <a:ext cx="257175" cy="244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75786" name="Oval 10"/>
          <p:cNvSpPr>
            <a:spLocks noChangeArrowheads="1"/>
          </p:cNvSpPr>
          <p:nvPr/>
        </p:nvSpPr>
        <p:spPr bwMode="auto">
          <a:xfrm>
            <a:off x="5410200" y="2438400"/>
            <a:ext cx="381000" cy="3810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72987"/>
            <a:ext cx="7466082" cy="1144631"/>
          </a:xfrm>
        </p:spPr>
        <p:txBody>
          <a:bodyPr/>
          <a:lstStyle/>
          <a:p>
            <a:pPr algn="ctr" eaLnBrk="1" hangingPunct="1"/>
            <a:r>
              <a:rPr lang="en-US" sz="4000" dirty="0"/>
              <a:t>Alpha-beta Algorithm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3964"/>
            <a:ext cx="7542282" cy="397681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500" dirty="0"/>
              <a:t>Depth first search – only considers nodes along a single path at any time</a:t>
            </a:r>
          </a:p>
          <a:p>
            <a:pPr eaLnBrk="1" hangingPunct="1">
              <a:lnSpc>
                <a:spcPct val="90000"/>
              </a:lnSpc>
            </a:pPr>
            <a:endParaRPr lang="en-US" sz="25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500" dirty="0"/>
              <a:t> </a:t>
            </a:r>
            <a:r>
              <a:rPr lang="en-US" sz="2500" dirty="0">
                <a:latin typeface="Symbol" charset="2"/>
              </a:rPr>
              <a:t>a</a:t>
            </a:r>
            <a:r>
              <a:rPr lang="en-US" sz="2500" dirty="0"/>
              <a:t> =  highest-value choice that we can guarantee for MAX so far in the current subtree.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500" dirty="0"/>
              <a:t> </a:t>
            </a:r>
            <a:r>
              <a:rPr lang="en-US" sz="2500" dirty="0" err="1">
                <a:latin typeface="Symbol" charset="2"/>
              </a:rPr>
              <a:t>b</a:t>
            </a:r>
            <a:r>
              <a:rPr lang="en-US" sz="2500" dirty="0"/>
              <a:t> = lowest-value choice that we can guarantee for MIN so far in the current subtree.</a:t>
            </a:r>
          </a:p>
          <a:p>
            <a:pPr eaLnBrk="1" hangingPunct="1">
              <a:lnSpc>
                <a:spcPct val="90000"/>
              </a:lnSpc>
            </a:pPr>
            <a:r>
              <a:rPr lang="en-US" sz="2500" dirty="0"/>
              <a:t> update values of </a:t>
            </a:r>
            <a:r>
              <a:rPr lang="en-US" sz="2500" dirty="0">
                <a:latin typeface="Symbol" charset="2"/>
              </a:rPr>
              <a:t>a</a:t>
            </a:r>
            <a:r>
              <a:rPr lang="en-US" sz="2500" dirty="0"/>
              <a:t> and </a:t>
            </a:r>
            <a:r>
              <a:rPr lang="en-US" sz="2500" dirty="0" err="1">
                <a:latin typeface="Symbol" charset="2"/>
              </a:rPr>
              <a:t>b</a:t>
            </a:r>
            <a:r>
              <a:rPr lang="en-US" sz="2500" dirty="0"/>
              <a:t> during search and prunes remaining branches as soon as the value is known to be worse than the current </a:t>
            </a:r>
            <a:r>
              <a:rPr lang="en-US" sz="2500" dirty="0">
                <a:latin typeface="Symbol" charset="2"/>
              </a:rPr>
              <a:t>a</a:t>
            </a:r>
            <a:r>
              <a:rPr lang="en-US" sz="2500" dirty="0"/>
              <a:t> or </a:t>
            </a:r>
            <a:r>
              <a:rPr lang="en-US" sz="2500" dirty="0" err="1">
                <a:latin typeface="Symbol" charset="2"/>
              </a:rPr>
              <a:t>b</a:t>
            </a:r>
            <a:r>
              <a:rPr lang="en-US" sz="2500" dirty="0"/>
              <a:t> value for MAX or MIN.</a:t>
            </a:r>
          </a:p>
          <a:p>
            <a:pPr eaLnBrk="1" hangingPunct="1">
              <a:lnSpc>
                <a:spcPct val="90000"/>
              </a:lnSpc>
            </a:pPr>
            <a:r>
              <a:rPr lang="en-US" sz="2500" dirty="0">
                <a:hlinkClick r:id="rId3"/>
              </a:rPr>
              <a:t>Alpha-beta Demo</a:t>
            </a:r>
            <a:r>
              <a:rPr lang="en-US" sz="25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14822" y="1485900"/>
            <a:ext cx="6400800" cy="533400"/>
          </a:xfrm>
        </p:spPr>
        <p:txBody>
          <a:bodyPr/>
          <a:lstStyle/>
          <a:p>
            <a:pPr eaLnBrk="1" hangingPunct="1"/>
            <a:r>
              <a:rPr lang="en-US" dirty="0"/>
              <a:t>Pseudocode for Alpha-Beta Algorithm</a:t>
            </a:r>
          </a:p>
        </p:txBody>
      </p:sp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1981200" y="3657600"/>
            <a:ext cx="6532563" cy="1311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charset="0"/>
              </a:rPr>
              <a:t>function </a:t>
            </a:r>
            <a:r>
              <a:rPr lang="en-US" sz="2000" dirty="0">
                <a:latin typeface="Times New Roman" charset="0"/>
              </a:rPr>
              <a:t>ALPHA-BETA-SEARCH(</a:t>
            </a:r>
            <a:r>
              <a:rPr lang="en-US" sz="2000" i="1" dirty="0">
                <a:latin typeface="Times New Roman" charset="0"/>
              </a:rPr>
              <a:t>state</a:t>
            </a:r>
            <a:r>
              <a:rPr lang="en-US" sz="2000" dirty="0">
                <a:latin typeface="Times New Roman" charset="0"/>
              </a:rPr>
              <a:t>)</a:t>
            </a:r>
            <a:r>
              <a:rPr lang="en-US" sz="2000" b="1" dirty="0">
                <a:latin typeface="Times New Roman" charset="0"/>
              </a:rPr>
              <a:t> returns </a:t>
            </a:r>
            <a:r>
              <a:rPr lang="en-US" sz="2000" i="1" dirty="0">
                <a:latin typeface="Times New Roman" charset="0"/>
              </a:rPr>
              <a:t>an action</a:t>
            </a:r>
          </a:p>
          <a:p>
            <a:r>
              <a:rPr lang="en-US" sz="2000" b="1" dirty="0">
                <a:latin typeface="Times New Roman" charset="0"/>
              </a:rPr>
              <a:t>   inputs: </a:t>
            </a:r>
            <a:r>
              <a:rPr lang="en-US" sz="2000" i="1" dirty="0">
                <a:latin typeface="Times New Roman" charset="0"/>
              </a:rPr>
              <a:t>state</a:t>
            </a:r>
            <a:r>
              <a:rPr lang="en-US" sz="2000" dirty="0">
                <a:latin typeface="Times New Roman" charset="0"/>
              </a:rPr>
              <a:t>, current state in game</a:t>
            </a:r>
          </a:p>
          <a:p>
            <a:r>
              <a:rPr lang="en-US" sz="2000" b="1" dirty="0">
                <a:latin typeface="Times New Roman" charset="0"/>
              </a:rPr>
              <a:t>   </a:t>
            </a:r>
            <a:r>
              <a:rPr lang="en-US" sz="2000" i="1" dirty="0" err="1">
                <a:latin typeface="Times New Roman" charset="0"/>
              </a:rPr>
              <a:t>v</a:t>
            </a:r>
            <a:r>
              <a:rPr lang="en-US" sz="2000" dirty="0" err="1">
                <a:latin typeface="Times New Roman" charset="0"/>
                <a:sym typeface="Symbol" charset="2"/>
              </a:rPr>
              <a:t></a:t>
            </a:r>
            <a:r>
              <a:rPr lang="en-US" sz="2000" dirty="0" err="1">
                <a:latin typeface="MS Shell Dlg" charset="0"/>
              </a:rPr>
              <a:t>MAX-VALUE</a:t>
            </a:r>
            <a:r>
              <a:rPr lang="en-US" sz="2000" dirty="0">
                <a:latin typeface="MS Shell Dlg" charset="0"/>
              </a:rPr>
              <a:t>(</a:t>
            </a:r>
            <a:r>
              <a:rPr lang="en-US" sz="2000" i="1" dirty="0">
                <a:latin typeface="MS Shell Dlg" charset="0"/>
              </a:rPr>
              <a:t>state, - </a:t>
            </a:r>
            <a:r>
              <a:rPr lang="en-US" sz="2000" dirty="0">
                <a:latin typeface="Times New Roman" charset="0"/>
              </a:rPr>
              <a:t>∞</a:t>
            </a:r>
            <a:r>
              <a:rPr lang="en-US" sz="2000" i="1" dirty="0">
                <a:latin typeface="MS Shell Dlg" charset="0"/>
              </a:rPr>
              <a:t> , +</a:t>
            </a:r>
            <a:r>
              <a:rPr lang="en-US" sz="2000" dirty="0">
                <a:latin typeface="Times New Roman" charset="0"/>
              </a:rPr>
              <a:t>∞</a:t>
            </a:r>
            <a:r>
              <a:rPr lang="en-US" sz="2000" dirty="0">
                <a:latin typeface="MS Shell Dlg" charset="0"/>
              </a:rPr>
              <a:t>)</a:t>
            </a:r>
          </a:p>
          <a:p>
            <a:r>
              <a:rPr lang="en-US" sz="2000" b="1" dirty="0">
                <a:latin typeface="MS Shell Dlg" charset="0"/>
              </a:rPr>
              <a:t>   return </a:t>
            </a:r>
            <a:r>
              <a:rPr lang="en-US" sz="2000" dirty="0">
                <a:latin typeface="MS Shell Dlg" charset="0"/>
              </a:rPr>
              <a:t>the </a:t>
            </a:r>
            <a:r>
              <a:rPr lang="en-US" sz="2000" i="1" dirty="0">
                <a:latin typeface="MS Shell Dlg" charset="0"/>
              </a:rPr>
              <a:t>action</a:t>
            </a:r>
            <a:r>
              <a:rPr lang="en-US" sz="2000" dirty="0">
                <a:latin typeface="MS Shell Dlg" charset="0"/>
              </a:rPr>
              <a:t> in SUCCESSORS(</a:t>
            </a:r>
            <a:r>
              <a:rPr lang="en-US" sz="2000" i="1" dirty="0">
                <a:latin typeface="MS Shell Dlg" charset="0"/>
              </a:rPr>
              <a:t>state</a:t>
            </a:r>
            <a:r>
              <a:rPr lang="en-US" sz="2000" dirty="0">
                <a:latin typeface="MS Shell Dlg" charset="0"/>
              </a:rPr>
              <a:t>) with value </a:t>
            </a:r>
            <a:r>
              <a:rPr lang="en-US" sz="2000" i="1" dirty="0">
                <a:latin typeface="MS Shell Dlg" charset="0"/>
              </a:rPr>
              <a:t>v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468437" y="152400"/>
            <a:ext cx="5770563" cy="1143000"/>
          </a:xfrm>
        </p:spPr>
        <p:txBody>
          <a:bodyPr/>
          <a:lstStyle/>
          <a:p>
            <a:pPr algn="ctr" eaLnBrk="1" hangingPunct="1"/>
            <a:r>
              <a:rPr lang="en-US" dirty="0"/>
              <a:t>Pseudocode for Alpha-Beta Algorithm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1143000" y="1355725"/>
            <a:ext cx="6532563" cy="1311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charset="0"/>
              </a:rPr>
              <a:t>function </a:t>
            </a:r>
            <a:r>
              <a:rPr lang="en-US" sz="2000" dirty="0">
                <a:latin typeface="Times New Roman" charset="0"/>
              </a:rPr>
              <a:t>ALPHA-BETA-SEARCH(</a:t>
            </a:r>
            <a:r>
              <a:rPr lang="en-US" sz="2000" i="1" dirty="0">
                <a:latin typeface="Times New Roman" charset="0"/>
              </a:rPr>
              <a:t>state</a:t>
            </a:r>
            <a:r>
              <a:rPr lang="en-US" sz="2000" dirty="0">
                <a:latin typeface="Times New Roman" charset="0"/>
              </a:rPr>
              <a:t>)</a:t>
            </a:r>
            <a:r>
              <a:rPr lang="en-US" sz="2000" b="1" dirty="0">
                <a:latin typeface="Times New Roman" charset="0"/>
              </a:rPr>
              <a:t> returns </a:t>
            </a:r>
            <a:r>
              <a:rPr lang="en-US" sz="2000" i="1" dirty="0">
                <a:latin typeface="Times New Roman" charset="0"/>
              </a:rPr>
              <a:t>an action</a:t>
            </a:r>
          </a:p>
          <a:p>
            <a:r>
              <a:rPr lang="en-US" sz="2000" b="1" dirty="0">
                <a:latin typeface="Times New Roman" charset="0"/>
              </a:rPr>
              <a:t>   inputs: </a:t>
            </a:r>
            <a:r>
              <a:rPr lang="en-US" sz="2000" i="1" dirty="0">
                <a:latin typeface="Times New Roman" charset="0"/>
              </a:rPr>
              <a:t>state</a:t>
            </a:r>
            <a:r>
              <a:rPr lang="en-US" sz="2000" dirty="0">
                <a:latin typeface="Times New Roman" charset="0"/>
              </a:rPr>
              <a:t>, current state in game</a:t>
            </a:r>
          </a:p>
          <a:p>
            <a:r>
              <a:rPr lang="en-US" sz="2000" b="1" dirty="0">
                <a:latin typeface="Times New Roman" charset="0"/>
              </a:rPr>
              <a:t>   </a:t>
            </a:r>
            <a:r>
              <a:rPr lang="en-US" sz="2000" i="1" dirty="0" err="1">
                <a:latin typeface="Times New Roman" charset="0"/>
              </a:rPr>
              <a:t>v</a:t>
            </a:r>
            <a:r>
              <a:rPr lang="en-US" sz="2000" dirty="0" err="1">
                <a:latin typeface="Times New Roman" charset="0"/>
                <a:sym typeface="Symbol" charset="2"/>
              </a:rPr>
              <a:t></a:t>
            </a:r>
            <a:r>
              <a:rPr lang="en-US" sz="2000" dirty="0" err="1">
                <a:latin typeface="MS Shell Dlg" charset="0"/>
              </a:rPr>
              <a:t>MAX-VALUE</a:t>
            </a:r>
            <a:r>
              <a:rPr lang="en-US" sz="2000" dirty="0">
                <a:latin typeface="MS Shell Dlg" charset="0"/>
              </a:rPr>
              <a:t>(</a:t>
            </a:r>
            <a:r>
              <a:rPr lang="en-US" sz="2000" i="1" dirty="0">
                <a:latin typeface="MS Shell Dlg" charset="0"/>
              </a:rPr>
              <a:t>state, - </a:t>
            </a:r>
            <a:r>
              <a:rPr lang="en-US" sz="2000" dirty="0">
                <a:latin typeface="Times New Roman" charset="0"/>
              </a:rPr>
              <a:t>∞</a:t>
            </a:r>
            <a:r>
              <a:rPr lang="en-US" sz="2000" i="1" dirty="0">
                <a:latin typeface="MS Shell Dlg" charset="0"/>
              </a:rPr>
              <a:t> , +</a:t>
            </a:r>
            <a:r>
              <a:rPr lang="en-US" sz="2000" dirty="0">
                <a:latin typeface="Times New Roman" charset="0"/>
              </a:rPr>
              <a:t>∞</a:t>
            </a:r>
            <a:r>
              <a:rPr lang="en-US" sz="2000" dirty="0">
                <a:latin typeface="MS Shell Dlg" charset="0"/>
              </a:rPr>
              <a:t>)</a:t>
            </a:r>
          </a:p>
          <a:p>
            <a:r>
              <a:rPr lang="en-US" sz="2000" b="1" dirty="0">
                <a:latin typeface="MS Shell Dlg" charset="0"/>
              </a:rPr>
              <a:t>   return </a:t>
            </a:r>
            <a:r>
              <a:rPr lang="en-US" sz="2000" dirty="0">
                <a:latin typeface="MS Shell Dlg" charset="0"/>
              </a:rPr>
              <a:t>the </a:t>
            </a:r>
            <a:r>
              <a:rPr lang="en-US" sz="2000" i="1" dirty="0">
                <a:latin typeface="MS Shell Dlg" charset="0"/>
              </a:rPr>
              <a:t>action</a:t>
            </a:r>
            <a:r>
              <a:rPr lang="en-US" sz="2000" dirty="0">
                <a:latin typeface="MS Shell Dlg" charset="0"/>
              </a:rPr>
              <a:t> in SUCCESSORS(</a:t>
            </a:r>
            <a:r>
              <a:rPr lang="en-US" sz="2000" i="1" dirty="0">
                <a:latin typeface="MS Shell Dlg" charset="0"/>
              </a:rPr>
              <a:t>state</a:t>
            </a:r>
            <a:r>
              <a:rPr lang="en-US" sz="2000" dirty="0">
                <a:latin typeface="MS Shell Dlg" charset="0"/>
              </a:rPr>
              <a:t>) with value </a:t>
            </a:r>
            <a:r>
              <a:rPr lang="en-US" sz="2000" i="1" dirty="0">
                <a:latin typeface="MS Shell Dlg" charset="0"/>
              </a:rPr>
              <a:t>v</a:t>
            </a:r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1143000" y="2895600"/>
            <a:ext cx="6269038" cy="2530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 charset="0"/>
              </a:rPr>
              <a:t>function </a:t>
            </a:r>
            <a:r>
              <a:rPr lang="en-US" sz="2000">
                <a:latin typeface="Times New Roman" charset="0"/>
              </a:rPr>
              <a:t>MAX-VALUE(</a:t>
            </a:r>
            <a:r>
              <a:rPr lang="en-US" sz="2000" i="1">
                <a:latin typeface="Times New Roman" charset="0"/>
              </a:rPr>
              <a:t>state,</a:t>
            </a:r>
            <a:r>
              <a:rPr lang="en-US" sz="2000" i="1">
                <a:latin typeface="Times New Roman" charset="0"/>
                <a:sym typeface="Symbol" charset="2"/>
              </a:rPr>
              <a:t></a:t>
            </a:r>
            <a:r>
              <a:rPr lang="en-US" sz="2000" i="1">
                <a:latin typeface="Times New Roman" charset="0"/>
              </a:rPr>
              <a:t> , </a:t>
            </a:r>
            <a:r>
              <a:rPr lang="en-US" sz="2000" i="1">
                <a:latin typeface="Times New Roman" charset="0"/>
                <a:sym typeface="Symbol" charset="2"/>
              </a:rPr>
              <a:t></a:t>
            </a:r>
            <a:r>
              <a:rPr lang="en-US" sz="2000">
                <a:latin typeface="Times New Roman" charset="0"/>
              </a:rPr>
              <a:t>)</a:t>
            </a:r>
            <a:r>
              <a:rPr lang="en-US" sz="2000" b="1">
                <a:latin typeface="Times New Roman" charset="0"/>
              </a:rPr>
              <a:t> returns </a:t>
            </a:r>
            <a:r>
              <a:rPr lang="en-US" sz="2000" i="1">
                <a:latin typeface="Times New Roman" charset="0"/>
              </a:rPr>
              <a:t>a utility value</a:t>
            </a:r>
          </a:p>
          <a:p>
            <a:r>
              <a:rPr lang="en-US" sz="2000" b="1">
                <a:latin typeface="Times New Roman" charset="0"/>
              </a:rPr>
              <a:t>   if </a:t>
            </a:r>
            <a:r>
              <a:rPr lang="en-US" sz="2000">
                <a:latin typeface="Times New Roman" charset="0"/>
              </a:rPr>
              <a:t>TERMINAL-TEST(</a:t>
            </a:r>
            <a:r>
              <a:rPr lang="en-US" sz="2000" i="1">
                <a:latin typeface="Times New Roman" charset="0"/>
              </a:rPr>
              <a:t>state</a:t>
            </a:r>
            <a:r>
              <a:rPr lang="en-US" sz="2000">
                <a:latin typeface="Times New Roman" charset="0"/>
              </a:rPr>
              <a:t>) </a:t>
            </a:r>
            <a:r>
              <a:rPr lang="en-US" sz="2000" b="1">
                <a:latin typeface="Times New Roman" charset="0"/>
              </a:rPr>
              <a:t>then return</a:t>
            </a:r>
            <a:r>
              <a:rPr lang="en-US" sz="2000">
                <a:latin typeface="Times New Roman" charset="0"/>
              </a:rPr>
              <a:t> UTILITY(</a:t>
            </a:r>
            <a:r>
              <a:rPr lang="en-US" sz="2000" i="1">
                <a:latin typeface="Times New Roman" charset="0"/>
              </a:rPr>
              <a:t>state</a:t>
            </a:r>
            <a:r>
              <a:rPr lang="en-US" sz="2000">
                <a:latin typeface="Times New Roman" charset="0"/>
              </a:rPr>
              <a:t>)</a:t>
            </a:r>
            <a:endParaRPr lang="en-US" sz="2000" b="1">
              <a:latin typeface="Times New Roman" charset="0"/>
            </a:endParaRPr>
          </a:p>
          <a:p>
            <a:r>
              <a:rPr lang="en-US" sz="2000" b="1">
                <a:latin typeface="Times New Roman" charset="0"/>
              </a:rPr>
              <a:t>   </a:t>
            </a:r>
            <a:r>
              <a:rPr lang="en-US" sz="2000" i="1">
                <a:latin typeface="Times New Roman" charset="0"/>
              </a:rPr>
              <a:t>v </a:t>
            </a:r>
            <a:r>
              <a:rPr lang="en-US" sz="2000">
                <a:latin typeface="Times New Roman" charset="0"/>
                <a:sym typeface="Symbol" charset="2"/>
              </a:rPr>
              <a:t></a:t>
            </a:r>
            <a:r>
              <a:rPr lang="en-US" sz="2000">
                <a:latin typeface="Times New Roman" charset="0"/>
              </a:rPr>
              <a:t> - ∞</a:t>
            </a:r>
          </a:p>
          <a:p>
            <a:r>
              <a:rPr lang="en-US" sz="2000" b="1">
                <a:latin typeface="MS Shell Dlg" charset="0"/>
              </a:rPr>
              <a:t>   for </a:t>
            </a:r>
            <a:r>
              <a:rPr lang="en-US" sz="2000" i="1">
                <a:latin typeface="MS Shell Dlg" charset="0"/>
              </a:rPr>
              <a:t>a,s</a:t>
            </a:r>
            <a:r>
              <a:rPr lang="en-US" sz="2000">
                <a:latin typeface="MS Shell Dlg" charset="0"/>
              </a:rPr>
              <a:t> in SUCCESSORS(</a:t>
            </a:r>
            <a:r>
              <a:rPr lang="en-US" sz="2000" i="1">
                <a:latin typeface="MS Shell Dlg" charset="0"/>
              </a:rPr>
              <a:t>state</a:t>
            </a:r>
            <a:r>
              <a:rPr lang="en-US" sz="2000">
                <a:latin typeface="MS Shell Dlg" charset="0"/>
              </a:rPr>
              <a:t>) </a:t>
            </a:r>
            <a:r>
              <a:rPr lang="en-US" sz="2000" b="1">
                <a:latin typeface="MS Shell Dlg" charset="0"/>
              </a:rPr>
              <a:t>do</a:t>
            </a:r>
          </a:p>
          <a:p>
            <a:r>
              <a:rPr lang="en-US" sz="2000" b="1">
                <a:latin typeface="Times New Roman" charset="0"/>
              </a:rPr>
              <a:t>      </a:t>
            </a:r>
            <a:r>
              <a:rPr lang="en-US" sz="2000" i="1">
                <a:latin typeface="Times New Roman" charset="0"/>
              </a:rPr>
              <a:t>v </a:t>
            </a:r>
            <a:r>
              <a:rPr lang="en-US" sz="2000">
                <a:latin typeface="Times New Roman" charset="0"/>
                <a:sym typeface="Symbol" charset="2"/>
              </a:rPr>
              <a:t>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>
                <a:latin typeface="MS Shell Dlg" charset="0"/>
              </a:rPr>
              <a:t>MAX(</a:t>
            </a:r>
            <a:r>
              <a:rPr lang="en-US" sz="2000" i="1">
                <a:latin typeface="MS Shell Dlg" charset="0"/>
              </a:rPr>
              <a:t>v,</a:t>
            </a:r>
            <a:r>
              <a:rPr lang="en-US" sz="2000">
                <a:latin typeface="MS Shell Dlg" charset="0"/>
              </a:rPr>
              <a:t>MIN-VALUE(</a:t>
            </a:r>
            <a:r>
              <a:rPr lang="en-US" sz="2000" i="1">
                <a:latin typeface="MS Shell Dlg" charset="0"/>
              </a:rPr>
              <a:t>s</a:t>
            </a:r>
            <a:r>
              <a:rPr lang="en-US" sz="2000">
                <a:latin typeface="MS Shell Dlg" charset="0"/>
              </a:rPr>
              <a:t>, </a:t>
            </a:r>
            <a:r>
              <a:rPr lang="en-US" sz="2000" i="1">
                <a:latin typeface="Times New Roman" charset="0"/>
                <a:sym typeface="Symbol" charset="2"/>
              </a:rPr>
              <a:t></a:t>
            </a:r>
            <a:r>
              <a:rPr lang="en-US" sz="2000" i="1">
                <a:latin typeface="Times New Roman" charset="0"/>
              </a:rPr>
              <a:t> , </a:t>
            </a:r>
            <a:r>
              <a:rPr lang="en-US" sz="2000" i="1">
                <a:latin typeface="Times New Roman" charset="0"/>
                <a:sym typeface="Symbol" charset="2"/>
              </a:rPr>
              <a:t></a:t>
            </a:r>
            <a:r>
              <a:rPr lang="en-US" sz="2000">
                <a:latin typeface="MS Shell Dlg" charset="0"/>
              </a:rPr>
              <a:t>))</a:t>
            </a:r>
          </a:p>
          <a:p>
            <a:r>
              <a:rPr lang="en-US" sz="2000">
                <a:latin typeface="MS Shell Dlg" charset="0"/>
              </a:rPr>
              <a:t>     </a:t>
            </a:r>
            <a:r>
              <a:rPr lang="en-US" sz="2000" b="1">
                <a:latin typeface="MS Shell Dlg" charset="0"/>
              </a:rPr>
              <a:t>if</a:t>
            </a:r>
            <a:r>
              <a:rPr lang="en-US" sz="2000">
                <a:latin typeface="MS Shell Dlg" charset="0"/>
              </a:rPr>
              <a:t> </a:t>
            </a:r>
            <a:r>
              <a:rPr lang="en-US" sz="2000" i="1">
                <a:latin typeface="Times New Roman" charset="0"/>
              </a:rPr>
              <a:t>v</a:t>
            </a:r>
            <a:r>
              <a:rPr lang="en-US" sz="2000">
                <a:latin typeface="MS Shell Dlg" charset="0"/>
              </a:rPr>
              <a:t> ≥ </a:t>
            </a:r>
            <a:r>
              <a:rPr lang="en-US" sz="2000" i="1">
                <a:latin typeface="Times New Roman" charset="0"/>
                <a:sym typeface="Symbol" charset="2"/>
              </a:rPr>
              <a:t></a:t>
            </a:r>
            <a:r>
              <a:rPr lang="en-US" sz="2000">
                <a:latin typeface="MS Shell Dlg" charset="0"/>
              </a:rPr>
              <a:t> </a:t>
            </a:r>
            <a:r>
              <a:rPr lang="en-US" sz="2000" b="1">
                <a:latin typeface="MS Shell Dlg" charset="0"/>
              </a:rPr>
              <a:t>then return</a:t>
            </a:r>
            <a:r>
              <a:rPr lang="en-US" sz="2000">
                <a:latin typeface="MS Shell Dlg" charset="0"/>
              </a:rPr>
              <a:t> </a:t>
            </a:r>
            <a:r>
              <a:rPr lang="en-US" sz="2000" i="1">
                <a:latin typeface="Times New Roman" charset="0"/>
              </a:rPr>
              <a:t>v</a:t>
            </a:r>
          </a:p>
          <a:p>
            <a:r>
              <a:rPr lang="en-US" sz="2000" i="1">
                <a:latin typeface="Times New Roman" charset="0"/>
              </a:rPr>
              <a:t>     </a:t>
            </a:r>
            <a:r>
              <a:rPr lang="en-US" sz="2000" i="1">
                <a:latin typeface="Times New Roman" charset="0"/>
                <a:sym typeface="Symbol" charset="2"/>
              </a:rPr>
              <a:t> </a:t>
            </a:r>
            <a:r>
              <a:rPr lang="en-US" sz="2000">
                <a:latin typeface="Times New Roman" charset="0"/>
                <a:sym typeface="Symbol" charset="2"/>
              </a:rPr>
              <a:t></a:t>
            </a:r>
            <a:r>
              <a:rPr lang="en-US" sz="2000" i="1">
                <a:latin typeface="Times New Roman" charset="0"/>
                <a:sym typeface="Symbol" charset="2"/>
              </a:rPr>
              <a:t> </a:t>
            </a:r>
            <a:r>
              <a:rPr lang="en-US" sz="2000">
                <a:latin typeface="Times New Roman" charset="0"/>
                <a:sym typeface="Symbol" charset="2"/>
              </a:rPr>
              <a:t>MAX(</a:t>
            </a:r>
            <a:r>
              <a:rPr lang="en-US" sz="2000" i="1">
                <a:latin typeface="Times New Roman" charset="0"/>
                <a:sym typeface="Symbol" charset="2"/>
              </a:rPr>
              <a:t></a:t>
            </a:r>
            <a:r>
              <a:rPr lang="en-US" sz="2000">
                <a:latin typeface="Times New Roman" charset="0"/>
                <a:sym typeface="Symbol" charset="2"/>
              </a:rPr>
              <a:t> ,</a:t>
            </a:r>
            <a:r>
              <a:rPr lang="en-US" sz="2000" i="1">
                <a:latin typeface="Times New Roman" charset="0"/>
                <a:sym typeface="Symbol" charset="2"/>
              </a:rPr>
              <a:t>v</a:t>
            </a:r>
            <a:r>
              <a:rPr lang="en-US" sz="2000">
                <a:latin typeface="Times New Roman" charset="0"/>
                <a:sym typeface="Symbol" charset="2"/>
              </a:rPr>
              <a:t>)</a:t>
            </a:r>
            <a:endParaRPr lang="en-US" sz="2000">
              <a:latin typeface="MS Shell Dlg" charset="0"/>
            </a:endParaRPr>
          </a:p>
          <a:p>
            <a:r>
              <a:rPr lang="en-US" sz="2000" b="1">
                <a:latin typeface="MS Shell Dlg" charset="0"/>
              </a:rPr>
              <a:t>   return </a:t>
            </a:r>
            <a:r>
              <a:rPr lang="en-US" sz="2000" i="1">
                <a:latin typeface="Times New Roman" charset="0"/>
                <a:sym typeface="Symbol" charset="2"/>
              </a:rPr>
              <a:t>v</a:t>
            </a:r>
          </a:p>
        </p:txBody>
      </p:sp>
      <p:sp>
        <p:nvSpPr>
          <p:cNvPr id="81925" name="Line 5"/>
          <p:cNvSpPr>
            <a:spLocks noChangeShapeType="1"/>
          </p:cNvSpPr>
          <p:nvPr/>
        </p:nvSpPr>
        <p:spPr bwMode="auto">
          <a:xfrm>
            <a:off x="608013" y="2927350"/>
            <a:ext cx="731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198" name="Rectangle 6"/>
          <p:cNvSpPr>
            <a:spLocks noChangeArrowheads="1"/>
          </p:cNvSpPr>
          <p:nvPr/>
        </p:nvSpPr>
        <p:spPr bwMode="auto">
          <a:xfrm>
            <a:off x="1217613" y="1973262"/>
            <a:ext cx="3886200" cy="381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136199" name="Rectangle 7"/>
          <p:cNvSpPr>
            <a:spLocks noChangeArrowheads="1"/>
          </p:cNvSpPr>
          <p:nvPr/>
        </p:nvSpPr>
        <p:spPr bwMode="auto">
          <a:xfrm>
            <a:off x="1217613" y="4146550"/>
            <a:ext cx="4343400" cy="9588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136200" name="Rectangle 8"/>
          <p:cNvSpPr>
            <a:spLocks noChangeArrowheads="1"/>
          </p:cNvSpPr>
          <p:nvPr/>
        </p:nvSpPr>
        <p:spPr bwMode="auto">
          <a:xfrm>
            <a:off x="2132013" y="2927350"/>
            <a:ext cx="2819400" cy="381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8" grpId="0" animBg="1"/>
      <p:bldP spid="136199" grpId="0" animBg="1"/>
      <p:bldP spid="13620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999482" cy="808018"/>
          </a:xfrm>
          <a:noFill/>
        </p:spPr>
        <p:txBody>
          <a:bodyPr/>
          <a:lstStyle/>
          <a:p>
            <a:pPr eaLnBrk="1" hangingPunct="1"/>
            <a:r>
              <a:rPr lang="en-US" sz="4000" dirty="0"/>
              <a:t>Effectiveness of Alpha-Beta Search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301625" y="1527174"/>
            <a:ext cx="8504238" cy="4873625"/>
          </a:xfrm>
        </p:spPr>
        <p:txBody>
          <a:bodyPr/>
          <a:lstStyle/>
          <a:p>
            <a:pPr eaLnBrk="1" hangingPunct="1"/>
            <a:r>
              <a:rPr lang="en-US" sz="2000" dirty="0"/>
              <a:t>Worst-Case</a:t>
            </a:r>
          </a:p>
          <a:p>
            <a:pPr lvl="1" eaLnBrk="1" hangingPunct="1"/>
            <a:r>
              <a:rPr lang="en-US" sz="1800" dirty="0"/>
              <a:t>branches are ordered so that no pruning takes place. In this case alpha-beta gives no improvement over exhaustive search</a:t>
            </a:r>
            <a:br>
              <a:rPr lang="en-US" sz="1800" dirty="0"/>
            </a:br>
            <a:endParaRPr lang="en-US" sz="1800" dirty="0"/>
          </a:p>
          <a:p>
            <a:pPr eaLnBrk="1" hangingPunct="1"/>
            <a:r>
              <a:rPr lang="en-US" sz="2000" dirty="0"/>
              <a:t>Best-Case</a:t>
            </a:r>
          </a:p>
          <a:p>
            <a:pPr lvl="1" eaLnBrk="1" hangingPunct="1"/>
            <a:r>
              <a:rPr lang="en-US" sz="1800" dirty="0"/>
              <a:t>each player’s best move is the left-most alternative (i.e., evaluated first)</a:t>
            </a:r>
          </a:p>
          <a:p>
            <a:pPr lvl="1" eaLnBrk="1" hangingPunct="1"/>
            <a:r>
              <a:rPr lang="en-US" sz="1800" dirty="0"/>
              <a:t>in practice, performance is closer to best rather than worst-case</a:t>
            </a:r>
            <a:br>
              <a:rPr lang="en-US" sz="1800" dirty="0"/>
            </a:br>
            <a:endParaRPr lang="en-US" sz="1800" dirty="0"/>
          </a:p>
          <a:p>
            <a:pPr eaLnBrk="1" hangingPunct="1"/>
            <a:r>
              <a:rPr lang="en-US" sz="2000" dirty="0"/>
              <a:t>In practice often get O(b</a:t>
            </a:r>
            <a:r>
              <a:rPr lang="en-US" sz="2000" baseline="30000" dirty="0"/>
              <a:t>(d/2)</a:t>
            </a:r>
            <a:r>
              <a:rPr lang="en-US" sz="2000" dirty="0"/>
              <a:t>) rather than O(b</a:t>
            </a:r>
            <a:r>
              <a:rPr lang="en-US" sz="2000" baseline="30000" dirty="0"/>
              <a:t>d</a:t>
            </a:r>
            <a:r>
              <a:rPr lang="en-US" sz="2000" dirty="0"/>
              <a:t>) </a:t>
            </a:r>
          </a:p>
          <a:p>
            <a:pPr lvl="1" eaLnBrk="1" hangingPunct="1"/>
            <a:r>
              <a:rPr lang="en-US" sz="1800" dirty="0"/>
              <a:t>this is the same as having a branching factor of sqrt(b), </a:t>
            </a:r>
          </a:p>
          <a:p>
            <a:pPr lvl="2" eaLnBrk="1" hangingPunct="1"/>
            <a:r>
              <a:rPr lang="en-US" sz="1600" dirty="0"/>
              <a:t>since (sqrt(b))</a:t>
            </a:r>
            <a:r>
              <a:rPr lang="en-US" sz="1600" baseline="30000" dirty="0"/>
              <a:t>d</a:t>
            </a:r>
            <a:r>
              <a:rPr lang="en-US" sz="1600" dirty="0"/>
              <a:t> =  b</a:t>
            </a:r>
            <a:r>
              <a:rPr lang="en-US" sz="1600" baseline="30000" dirty="0"/>
              <a:t>(d/2)</a:t>
            </a:r>
            <a:endParaRPr lang="en-US" sz="1600" dirty="0"/>
          </a:p>
          <a:p>
            <a:pPr lvl="2" eaLnBrk="1" hangingPunct="1"/>
            <a:r>
              <a:rPr lang="en-US" sz="1600" dirty="0"/>
              <a:t>i.e., we have effectively gone from b to square root of b</a:t>
            </a:r>
          </a:p>
          <a:p>
            <a:pPr lvl="1" eaLnBrk="1" hangingPunct="1"/>
            <a:r>
              <a:rPr lang="en-US" sz="1800" dirty="0"/>
              <a:t>e.g., in chess go from b ~ 35  to  b ~ 6</a:t>
            </a:r>
          </a:p>
          <a:p>
            <a:pPr lvl="2" eaLnBrk="1" hangingPunct="1"/>
            <a:r>
              <a:rPr lang="en-US" sz="1600" dirty="0"/>
              <a:t>this permits much deeper search in the same amount of time</a:t>
            </a:r>
          </a:p>
          <a:p>
            <a:pPr lvl="2" eaLnBrk="1" hangingPunct="1"/>
            <a:r>
              <a:rPr lang="en-US" sz="1600" dirty="0"/>
              <a:t>Typically twice as deep.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73423"/>
            <a:ext cx="6780935" cy="1144631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88067" name="AutoShape 3"/>
          <p:cNvSpPr>
            <a:spLocks noChangeArrowheads="1"/>
          </p:cNvSpPr>
          <p:nvPr/>
        </p:nvSpPr>
        <p:spPr bwMode="auto">
          <a:xfrm>
            <a:off x="2133600" y="46482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88068" name="AutoShape 4"/>
          <p:cNvSpPr>
            <a:spLocks noChangeArrowheads="1"/>
          </p:cNvSpPr>
          <p:nvPr/>
        </p:nvSpPr>
        <p:spPr bwMode="auto">
          <a:xfrm>
            <a:off x="3581400" y="46482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88069" name="AutoShape 5"/>
          <p:cNvSpPr>
            <a:spLocks noChangeArrowheads="1"/>
          </p:cNvSpPr>
          <p:nvPr/>
        </p:nvSpPr>
        <p:spPr bwMode="auto">
          <a:xfrm>
            <a:off x="4953000" y="46482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88070" name="AutoShape 6"/>
          <p:cNvSpPr>
            <a:spLocks noChangeArrowheads="1"/>
          </p:cNvSpPr>
          <p:nvPr/>
        </p:nvSpPr>
        <p:spPr bwMode="auto">
          <a:xfrm>
            <a:off x="6400800" y="45720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88071" name="AutoShape 7"/>
          <p:cNvSpPr>
            <a:spLocks noChangeArrowheads="1"/>
          </p:cNvSpPr>
          <p:nvPr/>
        </p:nvSpPr>
        <p:spPr bwMode="auto">
          <a:xfrm>
            <a:off x="4038600" y="1371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88072" name="AutoShape 8"/>
          <p:cNvSpPr>
            <a:spLocks noChangeArrowheads="1"/>
          </p:cNvSpPr>
          <p:nvPr/>
        </p:nvSpPr>
        <p:spPr bwMode="auto">
          <a:xfrm rot="10800000">
            <a:off x="3276600" y="31242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88073" name="AutoShape 9"/>
          <p:cNvSpPr>
            <a:spLocks noChangeArrowheads="1"/>
          </p:cNvSpPr>
          <p:nvPr/>
        </p:nvSpPr>
        <p:spPr bwMode="auto">
          <a:xfrm rot="10800000">
            <a:off x="5181600" y="31242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88074" name="Line 10"/>
          <p:cNvSpPr>
            <a:spLocks noChangeShapeType="1"/>
          </p:cNvSpPr>
          <p:nvPr/>
        </p:nvSpPr>
        <p:spPr bwMode="auto">
          <a:xfrm flipH="1">
            <a:off x="3505200" y="1752600"/>
            <a:ext cx="6858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75" name="Line 11"/>
          <p:cNvSpPr>
            <a:spLocks noChangeShapeType="1"/>
          </p:cNvSpPr>
          <p:nvPr/>
        </p:nvSpPr>
        <p:spPr bwMode="auto">
          <a:xfrm>
            <a:off x="4267200" y="1752600"/>
            <a:ext cx="10668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76" name="Line 12"/>
          <p:cNvSpPr>
            <a:spLocks noChangeShapeType="1"/>
          </p:cNvSpPr>
          <p:nvPr/>
        </p:nvSpPr>
        <p:spPr bwMode="auto">
          <a:xfrm flipH="1">
            <a:off x="2286000" y="3505200"/>
            <a:ext cx="1219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77" name="Line 13"/>
          <p:cNvSpPr>
            <a:spLocks noChangeShapeType="1"/>
          </p:cNvSpPr>
          <p:nvPr/>
        </p:nvSpPr>
        <p:spPr bwMode="auto">
          <a:xfrm>
            <a:off x="3505200" y="3505200"/>
            <a:ext cx="228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78" name="Line 14"/>
          <p:cNvSpPr>
            <a:spLocks noChangeShapeType="1"/>
          </p:cNvSpPr>
          <p:nvPr/>
        </p:nvSpPr>
        <p:spPr bwMode="auto">
          <a:xfrm flipH="1">
            <a:off x="5105400" y="3505200"/>
            <a:ext cx="228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79" name="Line 15"/>
          <p:cNvSpPr>
            <a:spLocks noChangeShapeType="1"/>
          </p:cNvSpPr>
          <p:nvPr/>
        </p:nvSpPr>
        <p:spPr bwMode="auto">
          <a:xfrm>
            <a:off x="5334000" y="3505200"/>
            <a:ext cx="1219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80" name="Line 16"/>
          <p:cNvSpPr>
            <a:spLocks noChangeShapeType="1"/>
          </p:cNvSpPr>
          <p:nvPr/>
        </p:nvSpPr>
        <p:spPr bwMode="auto">
          <a:xfrm flipH="1">
            <a:off x="1219200" y="5029200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81" name="Line 17"/>
          <p:cNvSpPr>
            <a:spLocks noChangeShapeType="1"/>
          </p:cNvSpPr>
          <p:nvPr/>
        </p:nvSpPr>
        <p:spPr bwMode="auto">
          <a:xfrm>
            <a:off x="2286000" y="50292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82" name="Line 18"/>
          <p:cNvSpPr>
            <a:spLocks noChangeShapeType="1"/>
          </p:cNvSpPr>
          <p:nvPr/>
        </p:nvSpPr>
        <p:spPr bwMode="auto">
          <a:xfrm flipH="1">
            <a:off x="3276600" y="50292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83" name="Line 19"/>
          <p:cNvSpPr>
            <a:spLocks noChangeShapeType="1"/>
          </p:cNvSpPr>
          <p:nvPr/>
        </p:nvSpPr>
        <p:spPr bwMode="auto">
          <a:xfrm>
            <a:off x="3810000" y="50292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84" name="Line 20"/>
          <p:cNvSpPr>
            <a:spLocks noChangeShapeType="1"/>
          </p:cNvSpPr>
          <p:nvPr/>
        </p:nvSpPr>
        <p:spPr bwMode="auto">
          <a:xfrm flipH="1">
            <a:off x="4648200" y="50292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85" name="Line 21"/>
          <p:cNvSpPr>
            <a:spLocks noChangeShapeType="1"/>
          </p:cNvSpPr>
          <p:nvPr/>
        </p:nvSpPr>
        <p:spPr bwMode="auto">
          <a:xfrm>
            <a:off x="5105400" y="50292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86" name="Line 22"/>
          <p:cNvSpPr>
            <a:spLocks noChangeShapeType="1"/>
          </p:cNvSpPr>
          <p:nvPr/>
        </p:nvSpPr>
        <p:spPr bwMode="auto">
          <a:xfrm flipH="1">
            <a:off x="6096000" y="49530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87" name="Line 23"/>
          <p:cNvSpPr>
            <a:spLocks noChangeShapeType="1"/>
          </p:cNvSpPr>
          <p:nvPr/>
        </p:nvSpPr>
        <p:spPr bwMode="auto">
          <a:xfrm>
            <a:off x="6553200" y="49530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88" name="Text Box 24"/>
          <p:cNvSpPr txBox="1">
            <a:spLocks noChangeArrowheads="1"/>
          </p:cNvSpPr>
          <p:nvPr/>
        </p:nvSpPr>
        <p:spPr bwMode="auto">
          <a:xfrm>
            <a:off x="1066800" y="56388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Georgia" charset="0"/>
              </a:rPr>
              <a:t>3</a:t>
            </a:r>
          </a:p>
        </p:txBody>
      </p:sp>
      <p:sp>
        <p:nvSpPr>
          <p:cNvPr id="88089" name="Text Box 25"/>
          <p:cNvSpPr txBox="1">
            <a:spLocks noChangeArrowheads="1"/>
          </p:cNvSpPr>
          <p:nvPr/>
        </p:nvSpPr>
        <p:spPr bwMode="auto">
          <a:xfrm>
            <a:off x="2498725" y="56753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Georgia" charset="0"/>
              </a:rPr>
              <a:t>4</a:t>
            </a:r>
          </a:p>
        </p:txBody>
      </p:sp>
      <p:sp>
        <p:nvSpPr>
          <p:cNvPr id="88090" name="Text Box 26"/>
          <p:cNvSpPr txBox="1">
            <a:spLocks noChangeArrowheads="1"/>
          </p:cNvSpPr>
          <p:nvPr/>
        </p:nvSpPr>
        <p:spPr bwMode="auto">
          <a:xfrm>
            <a:off x="3184525" y="56753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Georgia" charset="0"/>
              </a:rPr>
              <a:t>1</a:t>
            </a:r>
          </a:p>
        </p:txBody>
      </p:sp>
      <p:sp>
        <p:nvSpPr>
          <p:cNvPr id="88091" name="Text Box 27"/>
          <p:cNvSpPr txBox="1">
            <a:spLocks noChangeArrowheads="1"/>
          </p:cNvSpPr>
          <p:nvPr/>
        </p:nvSpPr>
        <p:spPr bwMode="auto">
          <a:xfrm>
            <a:off x="4022725" y="56753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Georgia" charset="0"/>
              </a:rPr>
              <a:t>2</a:t>
            </a:r>
          </a:p>
        </p:txBody>
      </p:sp>
      <p:sp>
        <p:nvSpPr>
          <p:cNvPr id="88092" name="Text Box 28"/>
          <p:cNvSpPr txBox="1">
            <a:spLocks noChangeArrowheads="1"/>
          </p:cNvSpPr>
          <p:nvPr/>
        </p:nvSpPr>
        <p:spPr bwMode="auto">
          <a:xfrm>
            <a:off x="4556125" y="56753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Georgia" charset="0"/>
              </a:rPr>
              <a:t>7</a:t>
            </a:r>
          </a:p>
        </p:txBody>
      </p:sp>
      <p:sp>
        <p:nvSpPr>
          <p:cNvPr id="88093" name="Text Box 29"/>
          <p:cNvSpPr txBox="1">
            <a:spLocks noChangeArrowheads="1"/>
          </p:cNvSpPr>
          <p:nvPr/>
        </p:nvSpPr>
        <p:spPr bwMode="auto">
          <a:xfrm>
            <a:off x="5394325" y="56753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Georgia" charset="0"/>
              </a:rPr>
              <a:t>8</a:t>
            </a:r>
          </a:p>
        </p:txBody>
      </p:sp>
      <p:sp>
        <p:nvSpPr>
          <p:cNvPr id="88094" name="Text Box 30"/>
          <p:cNvSpPr txBox="1">
            <a:spLocks noChangeArrowheads="1"/>
          </p:cNvSpPr>
          <p:nvPr/>
        </p:nvSpPr>
        <p:spPr bwMode="auto">
          <a:xfrm>
            <a:off x="6003925" y="55991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Georgia" charset="0"/>
              </a:rPr>
              <a:t>5</a:t>
            </a:r>
          </a:p>
        </p:txBody>
      </p:sp>
      <p:sp>
        <p:nvSpPr>
          <p:cNvPr id="88095" name="Text Box 31"/>
          <p:cNvSpPr txBox="1">
            <a:spLocks noChangeArrowheads="1"/>
          </p:cNvSpPr>
          <p:nvPr/>
        </p:nvSpPr>
        <p:spPr bwMode="auto">
          <a:xfrm>
            <a:off x="7299325" y="55229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Georgia" charset="0"/>
              </a:rPr>
              <a:t>6</a:t>
            </a:r>
          </a:p>
        </p:txBody>
      </p:sp>
      <p:sp>
        <p:nvSpPr>
          <p:cNvPr id="88096" name="Text Box 32"/>
          <p:cNvSpPr txBox="1">
            <a:spLocks noChangeArrowheads="1"/>
          </p:cNvSpPr>
          <p:nvPr/>
        </p:nvSpPr>
        <p:spPr bwMode="auto">
          <a:xfrm>
            <a:off x="4972050" y="1219200"/>
            <a:ext cx="3181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Georgia" charset="0"/>
              </a:rPr>
              <a:t>-which nodes can be pruned?</a:t>
            </a:r>
          </a:p>
          <a:p>
            <a:endParaRPr lang="en-US">
              <a:solidFill>
                <a:srgbClr val="FF0000"/>
              </a:solidFill>
              <a:latin typeface="Georgia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24200" y="1371600"/>
            <a:ext cx="76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04800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648200"/>
            <a:ext cx="76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991359" y="226969"/>
            <a:ext cx="7085082" cy="1144631"/>
          </a:xfrm>
          <a:noFill/>
        </p:spPr>
        <p:txBody>
          <a:bodyPr/>
          <a:lstStyle/>
          <a:p>
            <a:pPr algn="ctr" eaLnBrk="1" hangingPunct="1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7848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Game playing can be effectively modeled as a search problem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Game trees represent alternate computer/opponent moves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Evaluation functions estimate the quality of a given board configuration for the Max player. 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 err="1"/>
              <a:t>Minimax</a:t>
            </a:r>
            <a:r>
              <a:rPr lang="en-US" sz="2000" dirty="0"/>
              <a:t> is a procedure which chooses moves by assuming that the opponent will always choose the move which is best for them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Alpha-Beta is a procedure which can prune large parts of the search tree and allow search to go deeper 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For many well-known games, computer algorithms based on heuristic search match or out-perform human world experts.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FEAE-9429-F5DD-96BC-E221C694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45" y="272987"/>
            <a:ext cx="8228437" cy="641413"/>
          </a:xfrm>
        </p:spPr>
        <p:txBody>
          <a:bodyPr/>
          <a:lstStyle/>
          <a:p>
            <a:pPr algn="ctr"/>
            <a:r>
              <a:rPr lang="en-IN" b="1" dirty="0"/>
              <a:t>QUIZ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7F58AD-1DC9-1CAB-A016-C6C7CDBFCA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Adversarial search problems involve: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A single agent and passive environment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Multiple cooperating agents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Agents with conflicting goals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Random environments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Agents with conflicting goals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minimax algorithm is used in: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Optimization problems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Probabilistic reasoning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Adversarial games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Planning problems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Adversarial games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minimax algorithm, the MAX player aims to: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Minimize the minimum loss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Maximize the maximum gain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Maximize the utility value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Minimize the utility value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Maximize the utility value</a:t>
            </a:r>
          </a:p>
        </p:txBody>
      </p:sp>
    </p:spTree>
    <p:extLst>
      <p:ext uri="{BB962C8B-B14F-4D97-AF65-F5344CB8AC3E}">
        <p14:creationId xmlns:p14="http://schemas.microsoft.com/office/powerpoint/2010/main" val="2385655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0C71-DF37-B1C9-F1EB-F55AE625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C736B4-458C-1FF9-52FA-A525AE926B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 the following is not a property of the minimax algorithm?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Complete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Optimal against an optimal opponent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Requires less memory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Works only for deterministic games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Requires less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Alpha-beta pruning is used to: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Improve accuracy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Reduce the number of nodes evaluated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Increase the depth of the game tree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Store more heuristics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b) Reduce the number of nodes evaluated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alpha and beta values in alpha-beta pruning?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Lower and upper bounds for possible solutions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Probability values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Cost functions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Heuristic scores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a) Lower and upper bounds for possible solutions</a:t>
            </a:r>
          </a:p>
        </p:txBody>
      </p:sp>
    </p:spTree>
    <p:extLst>
      <p:ext uri="{BB962C8B-B14F-4D97-AF65-F5344CB8AC3E}">
        <p14:creationId xmlns:p14="http://schemas.microsoft.com/office/powerpoint/2010/main" val="3377678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159D6-2122-0F64-F858-DD9FBF5AB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845" y="685800"/>
            <a:ext cx="8228437" cy="6096000"/>
          </a:xfrm>
        </p:spPr>
        <p:txBody>
          <a:bodyPr>
            <a:normAutofit/>
          </a:bodyPr>
          <a:lstStyle/>
          <a:p>
            <a:r>
              <a:rPr lang="en-US" sz="1400" b="1" dirty="0"/>
              <a:t>In alpha-beta pruning, if beta ≤ alpha:</a:t>
            </a:r>
            <a:br>
              <a:rPr lang="en-US" sz="1400" dirty="0"/>
            </a:br>
            <a:r>
              <a:rPr lang="en-US" sz="1400" dirty="0"/>
              <a:t>a) Prune the remaining branches</a:t>
            </a:r>
            <a:br>
              <a:rPr lang="en-US" sz="1400" dirty="0"/>
            </a:br>
            <a:r>
              <a:rPr lang="en-US" sz="1400" dirty="0"/>
              <a:t>b) Explore deeper nodes</a:t>
            </a:r>
            <a:br>
              <a:rPr lang="en-US" sz="1400" dirty="0"/>
            </a:br>
            <a:r>
              <a:rPr lang="en-US" sz="1400" dirty="0"/>
              <a:t>c) Increase alpha</a:t>
            </a:r>
            <a:br>
              <a:rPr lang="en-US" sz="1400" dirty="0"/>
            </a:br>
            <a:r>
              <a:rPr lang="en-US" sz="1400" dirty="0"/>
              <a:t>d) Continue evaluating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a) Prune the remaining branches</a:t>
            </a:r>
          </a:p>
          <a:p>
            <a:r>
              <a:rPr lang="en-US" sz="1400" b="1" dirty="0"/>
              <a:t>What is the time complexity of minimax algorithm in a game tree of depth </a:t>
            </a:r>
            <a:r>
              <a:rPr lang="en-US" sz="1400" b="1" i="1" dirty="0"/>
              <a:t>m</a:t>
            </a:r>
            <a:r>
              <a:rPr lang="en-US" sz="1400" b="1" dirty="0"/>
              <a:t> and branching factor </a:t>
            </a:r>
            <a:r>
              <a:rPr lang="en-US" sz="1400" b="1" i="1" dirty="0"/>
              <a:t>b</a:t>
            </a:r>
            <a:r>
              <a:rPr lang="en-US" sz="1400" b="1" dirty="0"/>
              <a:t>?</a:t>
            </a:r>
            <a:br>
              <a:rPr lang="en-US" sz="1400" dirty="0"/>
            </a:br>
            <a:r>
              <a:rPr lang="en-US" sz="1400" dirty="0"/>
              <a:t>a) O(b + m)</a:t>
            </a:r>
            <a:br>
              <a:rPr lang="en-US" sz="1400" dirty="0"/>
            </a:br>
            <a:r>
              <a:rPr lang="en-US" sz="1400" dirty="0"/>
              <a:t>b) O(m²)</a:t>
            </a:r>
            <a:br>
              <a:rPr lang="en-US" sz="1400" dirty="0"/>
            </a:br>
            <a:r>
              <a:rPr lang="en-US" sz="1400" dirty="0"/>
              <a:t>c) O(</a:t>
            </a:r>
            <a:r>
              <a:rPr lang="en-US" sz="1400" dirty="0" err="1"/>
              <a:t>b^m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>d) O(</a:t>
            </a:r>
            <a:r>
              <a:rPr lang="en-US" sz="1400" dirty="0" err="1"/>
              <a:t>m^b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c) O(</a:t>
            </a:r>
            <a:r>
              <a:rPr lang="en-US" sz="1400" dirty="0" err="1"/>
              <a:t>b^m</a:t>
            </a:r>
            <a:r>
              <a:rPr lang="en-US" sz="1400" dirty="0"/>
              <a:t>)</a:t>
            </a:r>
          </a:p>
          <a:p>
            <a:r>
              <a:rPr lang="en-US" sz="1400" b="1" dirty="0"/>
              <a:t>Which of the following will improve alpha-beta pruning performance the most?</a:t>
            </a:r>
            <a:br>
              <a:rPr lang="en-US" sz="1400" dirty="0"/>
            </a:br>
            <a:r>
              <a:rPr lang="en-US" sz="1400" dirty="0"/>
              <a:t>a) Evaluating nodes randomly</a:t>
            </a:r>
            <a:br>
              <a:rPr lang="en-US" sz="1400" dirty="0"/>
            </a:br>
            <a:r>
              <a:rPr lang="en-US" sz="1400" dirty="0"/>
              <a:t>b) Expanding the least promising node first</a:t>
            </a:r>
            <a:br>
              <a:rPr lang="en-US" sz="1400" dirty="0"/>
            </a:br>
            <a:r>
              <a:rPr lang="en-US" sz="1400" dirty="0"/>
              <a:t>c) Ordering moves to examine the best ones first</a:t>
            </a:r>
            <a:br>
              <a:rPr lang="en-US" sz="1400" dirty="0"/>
            </a:br>
            <a:r>
              <a:rPr lang="en-US" sz="1400" dirty="0"/>
              <a:t>d) Increasing depth of tree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c) Ordering moves to examine the best ones first</a:t>
            </a:r>
          </a:p>
          <a:p>
            <a:r>
              <a:rPr lang="en-US" sz="1400" b="1" dirty="0"/>
              <a:t>Which games are suitable for adversarial search algorithms like minimax?</a:t>
            </a:r>
            <a:br>
              <a:rPr lang="en-US" sz="1400" dirty="0"/>
            </a:br>
            <a:r>
              <a:rPr lang="en-US" sz="1400" dirty="0"/>
              <a:t>a) Single-agent pathfinding</a:t>
            </a:r>
            <a:br>
              <a:rPr lang="en-US" sz="1400" dirty="0"/>
            </a:br>
            <a:r>
              <a:rPr lang="en-US" sz="1400" dirty="0"/>
              <a:t>b) Deterministic turn-based two-player games</a:t>
            </a:r>
            <a:br>
              <a:rPr lang="en-US" sz="1400" dirty="0"/>
            </a:br>
            <a:r>
              <a:rPr lang="en-US" sz="1400" dirty="0"/>
              <a:t>c) Probabilistic board games</a:t>
            </a:r>
            <a:br>
              <a:rPr lang="en-US" sz="1400" dirty="0"/>
            </a:br>
            <a:r>
              <a:rPr lang="en-US" sz="1400" dirty="0"/>
              <a:t>d) Optimization scheduling problems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b) Deterministic turn-based two-player games</a:t>
            </a:r>
          </a:p>
          <a:p>
            <a:pPr marL="97961" indent="0">
              <a:buNone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10462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5" y="107542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900"/>
              </a:pPr>
              <a:r>
                <a:rPr lang="en-US" sz="4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Text and R</a:t>
              </a:r>
              <a:r>
                <a:rPr lang="en-US" sz="4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 Books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227927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92" indent="-342892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892" indent="-342892" algn="just">
              <a:lnSpc>
                <a:spcPct val="100000"/>
              </a:lnSpc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8" y="1958638"/>
            <a:ext cx="8942119" cy="266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TEXT BOOKS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T1.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Stuart Russell and Peter Norvig,” Artificial Intelligence: A Modern Approach”, 4th Edition.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T2.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Kevin Murphy, “Machine Learning: A Probabilistic Perspective”, 2nd Edition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REFERENCE BOOKS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R1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John D. Kelleher, Brian Mac Namee, and Aoife D'Arcy, “Fundamentals of Machine Learning for Predictive Data Analytics”, 2nd Edition.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buNone/>
            </a:pP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</a:rPr>
              <a:t>R2 </a:t>
            </a:r>
            <a:r>
              <a:rPr lang="en-US" kern="0" dirty="0">
                <a:latin typeface="Times New Roman" panose="02020603050405020304" pitchFamily="18" charset="0"/>
                <a:ea typeface="Calibri" panose="020F0502020204030204" pitchFamily="34" charset="0"/>
              </a:rPr>
              <a:t>Christoph Molnar, “Interpretable Machine Learning”, 2nd </a:t>
            </a:r>
            <a:r>
              <a:rPr lang="en-US" kern="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Edition.G</a:t>
            </a:r>
            <a:r>
              <a:rPr lang="en-US" kern="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4" y="943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227927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92" indent="-342892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892" indent="-342892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1" y="302741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000" b="1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835</TotalTime>
  <Words>1442</Words>
  <Application>Microsoft Office PowerPoint</Application>
  <PresentationFormat>On-screen Show (4:3)</PresentationFormat>
  <Paragraphs>170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Arial</vt:lpstr>
      <vt:lpstr>Calibri</vt:lpstr>
      <vt:lpstr>Cambria</vt:lpstr>
      <vt:lpstr>Courier</vt:lpstr>
      <vt:lpstr>Georgia</vt:lpstr>
      <vt:lpstr>MS Shell Dlg</vt:lpstr>
      <vt:lpstr>Symbol</vt:lpstr>
      <vt:lpstr>Times New Roman</vt:lpstr>
      <vt:lpstr>Verdana</vt:lpstr>
      <vt:lpstr>Vladimir Script</vt:lpstr>
      <vt:lpstr>Wingdings</vt:lpstr>
      <vt:lpstr>1_Office Theme</vt:lpstr>
      <vt:lpstr>PowerPoint Presentation</vt:lpstr>
      <vt:lpstr>PowerPoint Presentation</vt:lpstr>
      <vt:lpstr>Practical problem with minimax search</vt:lpstr>
      <vt:lpstr>Alpha-Beta Example</vt:lpstr>
      <vt:lpstr>Alpha-Beta Example (continued)</vt:lpstr>
      <vt:lpstr>Alpha-Beta Example (continued)</vt:lpstr>
      <vt:lpstr>Alpha-Beta Example (continued)</vt:lpstr>
      <vt:lpstr>Alpha-Beta Example (continued)</vt:lpstr>
      <vt:lpstr>Alpha-Beta Example (continued)</vt:lpstr>
      <vt:lpstr>Alpha-Beta Example (continued)</vt:lpstr>
      <vt:lpstr>Alpha-Beta Example (continued)</vt:lpstr>
      <vt:lpstr>Alpha-Beta Example (continued)</vt:lpstr>
      <vt:lpstr>Alpha-beta Algorithm</vt:lpstr>
      <vt:lpstr>Pseudocode for Alpha-Beta Algorithm</vt:lpstr>
      <vt:lpstr>Pseudocode for Alpha-Beta Algorithm</vt:lpstr>
      <vt:lpstr>Effectiveness of Alpha-Beta Search</vt:lpstr>
      <vt:lpstr>Example</vt:lpstr>
      <vt:lpstr>Summary</vt:lpstr>
      <vt:lpstr>QUIZ</vt:lpstr>
      <vt:lpstr>PowerPoint Presentation</vt:lpstr>
      <vt:lpstr>PowerPoint Presentation</vt:lpstr>
      <vt:lpstr>PowerPoint Presentation</vt:lpstr>
      <vt:lpstr>PowerPoint Presentation</vt:lpstr>
    </vt:vector>
  </TitlesOfParts>
  <Company>Simon Fraser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Search and Game-Playing</dc:title>
  <dc:creator>aaa78</dc:creator>
  <cp:lastModifiedBy>nisha sharma</cp:lastModifiedBy>
  <cp:revision>84</cp:revision>
  <dcterms:created xsi:type="dcterms:W3CDTF">2011-06-27T06:09:23Z</dcterms:created>
  <dcterms:modified xsi:type="dcterms:W3CDTF">2025-06-09T07:07:55Z</dcterms:modified>
</cp:coreProperties>
</file>